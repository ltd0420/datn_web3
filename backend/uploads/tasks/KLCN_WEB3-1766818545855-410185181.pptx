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23"/>
  </p:notesMasterIdLst>
  <p:sldIdLst>
    <p:sldId id="257" r:id="rId2"/>
    <p:sldId id="267" r:id="rId3"/>
    <p:sldId id="325" r:id="rId4"/>
    <p:sldId id="284" r:id="rId5"/>
    <p:sldId id="276" r:id="rId6"/>
    <p:sldId id="337" r:id="rId7"/>
    <p:sldId id="314" r:id="rId8"/>
    <p:sldId id="338" r:id="rId9"/>
    <p:sldId id="326" r:id="rId10"/>
    <p:sldId id="327" r:id="rId11"/>
    <p:sldId id="308" r:id="rId12"/>
    <p:sldId id="330" r:id="rId13"/>
    <p:sldId id="339" r:id="rId14"/>
    <p:sldId id="340" r:id="rId15"/>
    <p:sldId id="341" r:id="rId16"/>
    <p:sldId id="342" r:id="rId17"/>
    <p:sldId id="343" r:id="rId18"/>
    <p:sldId id="273" r:id="rId19"/>
    <p:sldId id="336" r:id="rId20"/>
    <p:sldId id="289" r:id="rId21"/>
    <p:sldId id="305" r:id="rId22"/>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D17"/>
    <a:srgbClr val="EAA848"/>
    <a:srgbClr val="EADE48"/>
    <a:srgbClr val="DDC223"/>
    <a:srgbClr val="2072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13" autoAdjust="0"/>
    <p:restoredTop sz="93947" autoAdjust="0"/>
  </p:normalViewPr>
  <p:slideViewPr>
    <p:cSldViewPr snapToGrid="0">
      <p:cViewPr varScale="1">
        <p:scale>
          <a:sx n="97" d="100"/>
          <a:sy n="97" d="100"/>
        </p:scale>
        <p:origin x="8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A697E-941C-4776-893F-36FFC9C5241D}"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BF77C9-2925-486C-A019-A6E1156CF98D}" type="slidenum">
              <a:rPr lang="en-US" smtClean="0"/>
              <a:t>‹#›</a:t>
            </a:fld>
            <a:endParaRPr lang="en-US"/>
          </a:p>
        </p:txBody>
      </p:sp>
    </p:spTree>
    <p:extLst>
      <p:ext uri="{BB962C8B-B14F-4D97-AF65-F5344CB8AC3E}">
        <p14:creationId xmlns:p14="http://schemas.microsoft.com/office/powerpoint/2010/main" val="1846960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BF77C9-2925-486C-A019-A6E1156CF98D}" type="slidenum">
              <a:rPr lang="en-US" smtClean="0"/>
              <a:t>9</a:t>
            </a:fld>
            <a:endParaRPr lang="en-US"/>
          </a:p>
        </p:txBody>
      </p:sp>
    </p:spTree>
    <p:extLst>
      <p:ext uri="{BB962C8B-B14F-4D97-AF65-F5344CB8AC3E}">
        <p14:creationId xmlns:p14="http://schemas.microsoft.com/office/powerpoint/2010/main" val="485202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BF77C9-2925-486C-A019-A6E1156CF98D}" type="slidenum">
              <a:rPr lang="en-US" smtClean="0"/>
              <a:t>10</a:t>
            </a:fld>
            <a:endParaRPr lang="en-US"/>
          </a:p>
        </p:txBody>
      </p:sp>
    </p:spTree>
    <p:extLst>
      <p:ext uri="{BB962C8B-B14F-4D97-AF65-F5344CB8AC3E}">
        <p14:creationId xmlns:p14="http://schemas.microsoft.com/office/powerpoint/2010/main" val="31457994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FA5C7D-F076-ABAB-28ED-936E6476926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12" name="Rectangle 11">
            <a:extLst>
              <a:ext uri="{FF2B5EF4-FFF2-40B4-BE49-F238E27FC236}">
                <a16:creationId xmlns:a16="http://schemas.microsoft.com/office/drawing/2014/main" id="{76CBF138-DDAA-03AE-2BFD-F0E6E77D089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7" name="Picture 16">
            <a:extLst>
              <a:ext uri="{FF2B5EF4-FFF2-40B4-BE49-F238E27FC236}">
                <a16:creationId xmlns:a16="http://schemas.microsoft.com/office/drawing/2014/main" id="{A6B26E30-45B4-E434-42E3-BFE66D53EB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6" name="Slide Number Placeholder 5"/>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20" name="Picture 19" descr="A building with trees in the background&#10;&#10;Description automatically generated">
            <a:extLst>
              <a:ext uri="{FF2B5EF4-FFF2-40B4-BE49-F238E27FC236}">
                <a16:creationId xmlns:a16="http://schemas.microsoft.com/office/drawing/2014/main" id="{633C415B-DE87-6E90-4B13-A134B02EF4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 y="5045074"/>
            <a:ext cx="12202160" cy="1676400"/>
          </a:xfrm>
          <a:prstGeom prst="rect">
            <a:avLst/>
          </a:prstGeom>
        </p:spPr>
      </p:pic>
      <p:sp>
        <p:nvSpPr>
          <p:cNvPr id="21" name="TextBox 20">
            <a:extLst>
              <a:ext uri="{FF2B5EF4-FFF2-40B4-BE49-F238E27FC236}">
                <a16:creationId xmlns:a16="http://schemas.microsoft.com/office/drawing/2014/main" id="{C088D834-70EE-F737-6AE1-030852F6AA55}"/>
              </a:ext>
            </a:extLst>
          </p:cNvPr>
          <p:cNvSpPr txBox="1"/>
          <p:nvPr userDrawn="1"/>
        </p:nvSpPr>
        <p:spPr>
          <a:xfrm>
            <a:off x="2545718" y="32083"/>
            <a:ext cx="7090403" cy="646331"/>
          </a:xfrm>
          <a:prstGeom prst="rect">
            <a:avLst/>
          </a:prstGeom>
          <a:noFill/>
        </p:spPr>
        <p:txBody>
          <a:bodyPr wrap="none" rtlCol="0">
            <a:spAutoFit/>
          </a:bodyPr>
          <a:lstStyle/>
          <a:p>
            <a:pPr algn="ctr"/>
            <a:r>
              <a:rPr lang="en-US" sz="1800">
                <a:solidFill>
                  <a:schemeClr val="bg1"/>
                </a:solidFill>
                <a:latin typeface="Arial" panose="020B0604020202020204" pitchFamily="34" charset="0"/>
                <a:cs typeface="Arial" panose="020B0604020202020204" pitchFamily="34" charset="0"/>
              </a:rPr>
              <a:t>BỘ CÔNG THƯƠNG</a:t>
            </a:r>
          </a:p>
          <a:p>
            <a:pPr algn="ctr"/>
            <a:r>
              <a:rPr lang="en-US" sz="1800" b="1">
                <a:solidFill>
                  <a:schemeClr val="bg1"/>
                </a:solidFill>
                <a:latin typeface="Arial" panose="020B0604020202020204" pitchFamily="34" charset="0"/>
                <a:cs typeface="Arial" panose="020B0604020202020204" pitchFamily="34" charset="0"/>
              </a:rPr>
              <a:t>TRƯỜNG ĐẠI HỌC CÔNG THƯƠNG THÀNH PHỐ HỒ CHÍ MINH</a:t>
            </a:r>
            <a:endParaRPr lang="en-VN" sz="1800" b="1">
              <a:solidFill>
                <a:schemeClr val="bg1"/>
              </a:solidFill>
              <a:latin typeface="Arial" panose="020B0604020202020204" pitchFamily="34" charset="0"/>
              <a:cs typeface="Arial" panose="020B0604020202020204" pitchFamily="34" charset="0"/>
            </a:endParaRPr>
          </a:p>
        </p:txBody>
      </p:sp>
      <p:pic>
        <p:nvPicPr>
          <p:cNvPr id="23" name="Picture 22" descr="A white circle with blue and red text and a book with a graduation cap&#10;&#10;Description automatically generated">
            <a:extLst>
              <a:ext uri="{FF2B5EF4-FFF2-40B4-BE49-F238E27FC236}">
                <a16:creationId xmlns:a16="http://schemas.microsoft.com/office/drawing/2014/main" id="{CC7CB636-E017-BD51-B7F7-2797B5CEAFFA}"/>
              </a:ext>
            </a:extLst>
          </p:cNvPr>
          <p:cNvPicPr>
            <a:picLocks/>
          </p:cNvPicPr>
          <p:nvPr userDrawn="1"/>
        </p:nvPicPr>
        <p:blipFill>
          <a:blip r:embed="rId4" cstate="screen">
            <a:extLst>
              <a:ext uri="{28A0092B-C50C-407E-A947-70E740481C1C}">
                <a14:useLocalDpi xmlns:a14="http://schemas.microsoft.com/office/drawing/2010/main"/>
              </a:ext>
            </a:extLst>
          </a:blip>
          <a:stretch>
            <a:fillRect/>
          </a:stretch>
        </p:blipFill>
        <p:spPr>
          <a:xfrm>
            <a:off x="356133" y="18061"/>
            <a:ext cx="666000" cy="666000"/>
          </a:xfrm>
          <a:prstGeom prst="rect">
            <a:avLst/>
          </a:prstGeom>
        </p:spPr>
      </p:pic>
    </p:spTree>
    <p:extLst>
      <p:ext uri="{BB962C8B-B14F-4D97-AF65-F5344CB8AC3E}">
        <p14:creationId xmlns:p14="http://schemas.microsoft.com/office/powerpoint/2010/main" val="223902314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D56CA0-7F99-A73F-EC74-87E2C37C45F8}"/>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3609018" y="0"/>
            <a:ext cx="8582983" cy="704917"/>
          </a:xfrm>
          <a:prstGeom prst="rect">
            <a:avLst/>
          </a:prstGeom>
        </p:spPr>
        <p:txBody>
          <a:bodyPr/>
          <a:lstStyle>
            <a:lvl1pPr algn="ctr">
              <a:lnSpc>
                <a:spcPct val="130000"/>
              </a:lnSpc>
              <a:defRPr sz="3000" b="1">
                <a:solidFill>
                  <a:srgbClr val="FFDD17"/>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0" y="722618"/>
            <a:ext cx="12181840" cy="5454345"/>
          </a:xfrm>
          <a:prstGeom prst="rect">
            <a:avLst/>
          </a:prstGeo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ack background with white text&#10;&#10;Description automatically generated">
            <a:extLst>
              <a:ext uri="{FF2B5EF4-FFF2-40B4-BE49-F238E27FC236}">
                <a16:creationId xmlns:a16="http://schemas.microsoft.com/office/drawing/2014/main" id="{636941E3-E3EC-8EF3-53CB-96FCF404C8E3}"/>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
        <p:nvSpPr>
          <p:cNvPr id="11" name="Rectangle 11">
            <a:extLst>
              <a:ext uri="{FF2B5EF4-FFF2-40B4-BE49-F238E27FC236}">
                <a16:creationId xmlns:a16="http://schemas.microsoft.com/office/drawing/2014/main" id="{D433E92D-1893-9769-8444-34EEDD3F24BC}"/>
              </a:ext>
            </a:extLst>
          </p:cNvPr>
          <p:cNvSpPr/>
          <p:nvPr userDrawn="1"/>
        </p:nvSpPr>
        <p:spPr>
          <a:xfrm>
            <a:off x="1765297" y="6481780"/>
            <a:ext cx="10416543" cy="365126"/>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sp>
        <p:nvSpPr>
          <p:cNvPr id="13" name="Slide Number Placeholder 5">
            <a:extLst>
              <a:ext uri="{FF2B5EF4-FFF2-40B4-BE49-F238E27FC236}">
                <a16:creationId xmlns:a16="http://schemas.microsoft.com/office/drawing/2014/main" id="{FB4E7459-A8A2-5081-F907-74BAE4176EAC}"/>
              </a:ext>
            </a:extLst>
          </p:cNvPr>
          <p:cNvSpPr>
            <a:spLocks noGrp="1"/>
          </p:cNvSpPr>
          <p:nvPr>
            <p:ph type="sldNum" sz="quarter" idx="12"/>
          </p:nvPr>
        </p:nvSpPr>
        <p:spPr>
          <a:xfrm>
            <a:off x="11581033" y="6446053"/>
            <a:ext cx="505557" cy="365125"/>
          </a:xfrm>
        </p:spPr>
        <p:txBody>
          <a:bodyPr/>
          <a:lstStyle>
            <a:lvl1pPr>
              <a:defRPr sz="1600" b="0">
                <a:solidFill>
                  <a:srgbClr val="FFDD17"/>
                </a:solidFill>
              </a:defRPr>
            </a:lvl1pPr>
          </a:lstStyle>
          <a:p>
            <a:fld id="{D379440A-2DED-3643-ADED-9B5C83E7D828}" type="slidenum">
              <a:rPr lang="en-VN" smtClean="0"/>
              <a:pPr/>
              <a:t>‹#›</a:t>
            </a:fld>
            <a:endParaRPr lang="en-VN"/>
          </a:p>
        </p:txBody>
      </p:sp>
    </p:spTree>
    <p:extLst>
      <p:ext uri="{BB962C8B-B14F-4D97-AF65-F5344CB8AC3E}">
        <p14:creationId xmlns:p14="http://schemas.microsoft.com/office/powerpoint/2010/main" val="3677958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1" y="1709740"/>
            <a:ext cx="10515600" cy="2852737"/>
          </a:xfrm>
          <a:prstGeom prst="rect">
            <a:avLst/>
          </a:prstGeom>
        </p:spPr>
        <p:txBody>
          <a:bodyPr anchor="b"/>
          <a:lstStyle>
            <a:lvl1pPr>
              <a:defRPr sz="6000"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Rectangle 6">
            <a:extLst>
              <a:ext uri="{FF2B5EF4-FFF2-40B4-BE49-F238E27FC236}">
                <a16:creationId xmlns:a16="http://schemas.microsoft.com/office/drawing/2014/main" id="{BFDCC048-85E1-D9DE-466A-D5EAB21DAFC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9" name="Rectangle 11">
            <a:extLst>
              <a:ext uri="{FF2B5EF4-FFF2-40B4-BE49-F238E27FC236}">
                <a16:creationId xmlns:a16="http://schemas.microsoft.com/office/drawing/2014/main" id="{0547C463-86A8-9ADB-B42F-6F8F911146A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DC2EE3A5-6242-A6B2-F6B4-2094B545F5E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A9473FA4-C6C6-7E97-AACE-A35CFDAB768B}"/>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6" name="Picture 5" descr="A black background with white text&#10;&#10;Description automatically generated">
            <a:extLst>
              <a:ext uri="{FF2B5EF4-FFF2-40B4-BE49-F238E27FC236}">
                <a16:creationId xmlns:a16="http://schemas.microsoft.com/office/drawing/2014/main" id="{A632828F-0B4F-8119-5B19-088A1173C90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91189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77EE82EC-C435-7D46-EFDD-D5C6A244EEA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977329"/>
            <a:ext cx="10515600" cy="713361"/>
          </a:xfrm>
          <a:prstGeom prst="rect">
            <a:avLst/>
          </a:prstGeom>
        </p:spPr>
        <p:txBody>
          <a:bodyPr/>
          <a:lstStyle/>
          <a:p>
            <a:r>
              <a:rPr lang="en-US" dirty="0"/>
              <a:t>Click to edit Master title style</a:t>
            </a:r>
          </a:p>
        </p:txBody>
      </p:sp>
      <p:sp>
        <p:nvSpPr>
          <p:cNvPr id="10" name="Rectangle 11">
            <a:extLst>
              <a:ext uri="{FF2B5EF4-FFF2-40B4-BE49-F238E27FC236}">
                <a16:creationId xmlns:a16="http://schemas.microsoft.com/office/drawing/2014/main" id="{CE50E531-FF89-E7A1-EC42-5664726867C2}"/>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9A4D41C0-EECC-510F-3124-F7EBC163F8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41F0268C-2917-2762-4664-C6ACF3587D3B}"/>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5" name="Picture 4" descr="A black background with white text&#10;&#10;Description automatically generated">
            <a:extLst>
              <a:ext uri="{FF2B5EF4-FFF2-40B4-BE49-F238E27FC236}">
                <a16:creationId xmlns:a16="http://schemas.microsoft.com/office/drawing/2014/main" id="{F93BE15D-74FA-AED7-3D2B-A613D05E679B}"/>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042684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6BA13BF4-06A1-B98B-FD59-CA5020C120F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866777"/>
            <a:ext cx="10515600" cy="823912"/>
          </a:xfrm>
          <a:prstGeom prst="rect">
            <a:avLst/>
          </a:prstGeom>
        </p:spPr>
        <p:txBody>
          <a:bodyPr/>
          <a:lstStyle/>
          <a:p>
            <a:r>
              <a:rPr lang="en-US" dirty="0"/>
              <a:t>Click to edit Master title style</a:t>
            </a:r>
          </a:p>
        </p:txBody>
      </p:sp>
      <p:sp>
        <p:nvSpPr>
          <p:cNvPr id="12" name="Rectangle 11">
            <a:extLst>
              <a:ext uri="{FF2B5EF4-FFF2-40B4-BE49-F238E27FC236}">
                <a16:creationId xmlns:a16="http://schemas.microsoft.com/office/drawing/2014/main" id="{228D1E83-C000-B443-17A1-67E172C1C81A}"/>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3" name="Picture 12">
            <a:extLst>
              <a:ext uri="{FF2B5EF4-FFF2-40B4-BE49-F238E27FC236}">
                <a16:creationId xmlns:a16="http://schemas.microsoft.com/office/drawing/2014/main" id="{E4F5B01C-A4C1-2548-9E99-49DA8F4F39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4" name="Slide Number Placeholder 5">
            <a:extLst>
              <a:ext uri="{FF2B5EF4-FFF2-40B4-BE49-F238E27FC236}">
                <a16:creationId xmlns:a16="http://schemas.microsoft.com/office/drawing/2014/main" id="{9D622E35-ED11-3E1D-3267-FB7969EBB673}"/>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7" name="Picture 6" descr="A black background with white text&#10;&#10;Description automatically generated">
            <a:extLst>
              <a:ext uri="{FF2B5EF4-FFF2-40B4-BE49-F238E27FC236}">
                <a16:creationId xmlns:a16="http://schemas.microsoft.com/office/drawing/2014/main" id="{2F168AC0-F6F3-71BB-BDB7-D14C957BCB1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3178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521EA7-200B-F8EF-FA1A-AF68F6EAFB52}"/>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74059"/>
            <a:ext cx="10515600" cy="816630"/>
          </a:xfrm>
          <a:prstGeom prst="rect">
            <a:avLst/>
          </a:prstGeom>
        </p:spPr>
        <p:txBody>
          <a:bodyPr/>
          <a:lstStyle/>
          <a:p>
            <a:r>
              <a:rPr lang="en-US" dirty="0"/>
              <a:t>Click to edit Master title style</a:t>
            </a:r>
          </a:p>
        </p:txBody>
      </p:sp>
      <p:sp>
        <p:nvSpPr>
          <p:cNvPr id="8" name="Rectangle 11">
            <a:extLst>
              <a:ext uri="{FF2B5EF4-FFF2-40B4-BE49-F238E27FC236}">
                <a16:creationId xmlns:a16="http://schemas.microsoft.com/office/drawing/2014/main" id="{C62A9323-B343-0333-2A84-AB84726F155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2472A695-B9BF-2B5E-F712-588F45EA7A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50B28936-A209-8496-713D-69F064437D73}"/>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3" name="Picture 2" descr="A black background with white text&#10;&#10;Description automatically generated">
            <a:extLst>
              <a:ext uri="{FF2B5EF4-FFF2-40B4-BE49-F238E27FC236}">
                <a16:creationId xmlns:a16="http://schemas.microsoft.com/office/drawing/2014/main" id="{943E1AB2-24F0-751B-86DE-9AC77889FA3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808962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F72B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A64684-422C-D171-0292-6610A91BE81D}"/>
              </a:ext>
            </a:extLst>
          </p:cNvPr>
          <p:cNvSpPr/>
          <p:nvPr userDrawn="1"/>
        </p:nvSpPr>
        <p:spPr>
          <a:xfrm>
            <a:off x="0" y="-8444"/>
            <a:ext cx="12192000" cy="7133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pic>
        <p:nvPicPr>
          <p:cNvPr id="6" name="Picture 5">
            <a:extLst>
              <a:ext uri="{FF2B5EF4-FFF2-40B4-BE49-F238E27FC236}">
                <a16:creationId xmlns:a16="http://schemas.microsoft.com/office/drawing/2014/main" id="{4FD82848-CD15-3DBB-0148-67FB51371B08}"/>
              </a:ext>
            </a:extLst>
          </p:cNvPr>
          <p:cNvPicPr>
            <a:picLocks/>
          </p:cNvPicPr>
          <p:nvPr userDrawn="1"/>
        </p:nvPicPr>
        <p:blipFill>
          <a:blip r:embed="rId2" cstate="screen">
            <a:extLst>
              <a:ext uri="{28A0092B-C50C-407E-A947-70E740481C1C}">
                <a14:useLocalDpi xmlns:a14="http://schemas.microsoft.com/office/drawing/2010/main"/>
              </a:ext>
            </a:extLst>
          </a:blip>
          <a:srcRect/>
          <a:stretch/>
        </p:blipFill>
        <p:spPr>
          <a:xfrm>
            <a:off x="318618" y="2224"/>
            <a:ext cx="3290400" cy="685072"/>
          </a:xfrm>
          <a:prstGeom prst="rect">
            <a:avLst/>
          </a:prstGeom>
        </p:spPr>
      </p:pic>
      <p:sp>
        <p:nvSpPr>
          <p:cNvPr id="8" name="Rectangle 11">
            <a:extLst>
              <a:ext uri="{FF2B5EF4-FFF2-40B4-BE49-F238E27FC236}">
                <a16:creationId xmlns:a16="http://schemas.microsoft.com/office/drawing/2014/main" id="{181386B9-1456-137E-66EE-45A4447494C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09CB3CD2-68E1-7670-8AC8-DCAEFA0447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7855B251-549F-CC81-82C4-1791D4DC0F9C}"/>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spTree>
    <p:extLst>
      <p:ext uri="{BB962C8B-B14F-4D97-AF65-F5344CB8AC3E}">
        <p14:creationId xmlns:p14="http://schemas.microsoft.com/office/powerpoint/2010/main" val="641512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57654E7B-7E2F-A597-CEAB-D64DA25FBCEB}"/>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a:prstGeom prst="rect">
            <a:avLst/>
          </a:prstGeo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EA9AB12A-F2B6-4320-39F1-67F3778EE5DF}"/>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B773966A-35C2-70BC-CFF9-46C3441D8C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C8C1A7AF-70A0-C0E9-B2F5-1490BE6C7ADB}"/>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5" name="Picture 4" descr="A black background with white text&#10;&#10;Description automatically generated">
            <a:extLst>
              <a:ext uri="{FF2B5EF4-FFF2-40B4-BE49-F238E27FC236}">
                <a16:creationId xmlns:a16="http://schemas.microsoft.com/office/drawing/2014/main" id="{7C0ADFA0-11B6-96C9-35AE-E6733196ACDA}"/>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307160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5183188" y="987426"/>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4B2A7AA7-CA5F-D2FA-2E5E-C3E10A53D35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a:prstGeom prst="rect">
            <a:avLst/>
          </a:prstGeo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1EDE2594-98FA-EBCE-C733-A51E9F54ED18}"/>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AF735AE5-30EC-7992-E657-2104C4F3BF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ACB5785D-C6E0-0BB4-B792-5DF6906E162F}"/>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5" name="Picture 4" descr="A black background with white text&#10;&#10;Description automatically generated">
            <a:extLst>
              <a:ext uri="{FF2B5EF4-FFF2-40B4-BE49-F238E27FC236}">
                <a16:creationId xmlns:a16="http://schemas.microsoft.com/office/drawing/2014/main" id="{93DEC689-0562-F90A-00BD-D3E65D677F10}"/>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41388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B4B8236F-F572-6350-D20A-0FCE1F38009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4"/>
            <a:ext cx="10515600" cy="806385"/>
          </a:xfrm>
          <a:prstGeom prst="rect">
            <a:avLst/>
          </a:prstGeom>
        </p:spPr>
        <p:txBody>
          <a:bodyPr/>
          <a:lstStyle/>
          <a:p>
            <a:r>
              <a:rPr lang="en-US" dirty="0"/>
              <a:t>Click to edit Master title style</a:t>
            </a:r>
          </a:p>
        </p:txBody>
      </p:sp>
      <p:sp>
        <p:nvSpPr>
          <p:cNvPr id="9" name="Rectangle 11">
            <a:extLst>
              <a:ext uri="{FF2B5EF4-FFF2-40B4-BE49-F238E27FC236}">
                <a16:creationId xmlns:a16="http://schemas.microsoft.com/office/drawing/2014/main" id="{9C659F1E-1F51-522D-AC8E-BE6E140A9E7D}"/>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9D1B0D34-343B-C838-5720-7351BA57CF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2B8E042D-2BAA-2A3F-EC27-380C92DBE4B0}"/>
              </a:ext>
            </a:extLst>
          </p:cNvPr>
          <p:cNvSpPr>
            <a:spLocks noGrp="1"/>
          </p:cNvSpPr>
          <p:nvPr>
            <p:ph type="sldNum" sz="quarter" idx="12"/>
          </p:nvPr>
        </p:nvSpPr>
        <p:spPr>
          <a:xfrm>
            <a:off x="11676283" y="6599573"/>
            <a:ext cx="505557" cy="365125"/>
          </a:xfrm>
        </p:spPr>
        <p:txBody>
          <a:bodyPr/>
          <a:lstStyle>
            <a:lvl1pPr>
              <a:defRPr sz="1400">
                <a:solidFill>
                  <a:schemeClr val="bg1"/>
                </a:solidFill>
              </a:defRPr>
            </a:lvl1pPr>
          </a:lstStyle>
          <a:p>
            <a:fld id="{D379440A-2DED-3643-ADED-9B5C83E7D828}" type="slidenum">
              <a:rPr lang="en-VN" smtClean="0"/>
              <a:pPr/>
              <a:t>‹#›</a:t>
            </a:fld>
            <a:endParaRPr lang="en-VN"/>
          </a:p>
        </p:txBody>
      </p:sp>
      <p:pic>
        <p:nvPicPr>
          <p:cNvPr id="4" name="Picture 3" descr="A black background with white text&#10;&#10;Description automatically generated">
            <a:extLst>
              <a:ext uri="{FF2B5EF4-FFF2-40B4-BE49-F238E27FC236}">
                <a16:creationId xmlns:a16="http://schemas.microsoft.com/office/drawing/2014/main" id="{E62415AA-63D3-FB51-385B-BC2BCB0599A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08360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38200" y="6340746"/>
            <a:ext cx="2743200" cy="365125"/>
          </a:xfrm>
          <a:prstGeom prst="rect">
            <a:avLst/>
          </a:prstGeom>
        </p:spPr>
        <p:txBody>
          <a:bodyPr vert="horz" lIns="91440" tIns="45720" rIns="91440" bIns="45720" rtlCol="0" anchor="ctr"/>
          <a:lstStyle>
            <a:lvl1pPr algn="l">
              <a:defRPr sz="1400">
                <a:solidFill>
                  <a:schemeClr val="tx1">
                    <a:tint val="75000"/>
                  </a:schemeClr>
                </a:solidFill>
              </a:defRPr>
            </a:lvl1pPr>
          </a:lstStyle>
          <a:p>
            <a:fld id="{D379440A-2DED-3643-ADED-9B5C83E7D828}" type="slidenum">
              <a:rPr lang="en-US" smtClean="0"/>
              <a:pPr/>
              <a:t>‹#›</a:t>
            </a:fld>
            <a:endParaRPr lang="en-US"/>
          </a:p>
        </p:txBody>
      </p:sp>
    </p:spTree>
    <p:extLst>
      <p:ext uri="{BB962C8B-B14F-4D97-AF65-F5344CB8AC3E}">
        <p14:creationId xmlns:p14="http://schemas.microsoft.com/office/powerpoint/2010/main" val="3622727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5AAC1D3-EE6D-FC85-F800-5FCE3F264EAA}"/>
              </a:ext>
            </a:extLst>
          </p:cNvPr>
          <p:cNvSpPr txBox="1"/>
          <p:nvPr/>
        </p:nvSpPr>
        <p:spPr>
          <a:xfrm>
            <a:off x="-43841" y="899542"/>
            <a:ext cx="12279681" cy="1015663"/>
          </a:xfrm>
          <a:prstGeom prst="rect">
            <a:avLst/>
          </a:prstGeom>
          <a:noFill/>
        </p:spPr>
        <p:txBody>
          <a:bodyPr wrap="square" rtlCol="0">
            <a:spAutoFit/>
          </a:bodyPr>
          <a:lstStyle/>
          <a:p>
            <a:pPr algn="ctr" defTabSz="457200"/>
            <a:r>
              <a:rPr lang="en-US" sz="3000" b="1">
                <a:solidFill>
                  <a:srgbClr val="C00000"/>
                </a:solidFill>
              </a:rPr>
              <a:t>KHOA CÔNG NGHỆ THÔNG TIN</a:t>
            </a:r>
          </a:p>
          <a:p>
            <a:pPr algn="ctr" defTabSz="457200"/>
            <a:r>
              <a:rPr lang="en-US" sz="3000" b="1">
                <a:solidFill>
                  <a:srgbClr val="C00000"/>
                </a:solidFill>
                <a:sym typeface="Wingdings" panose="05000000000000000000" pitchFamily="2" charset="2"/>
              </a:rPr>
              <a:t></a:t>
            </a:r>
            <a:endParaRPr lang="x-none" sz="3000" b="1" dirty="0">
              <a:solidFill>
                <a:srgbClr val="ED1C24"/>
              </a:solidFill>
            </a:endParaRPr>
          </a:p>
        </p:txBody>
      </p:sp>
      <p:sp>
        <p:nvSpPr>
          <p:cNvPr id="9" name="TextBox 8">
            <a:extLst>
              <a:ext uri="{FF2B5EF4-FFF2-40B4-BE49-F238E27FC236}">
                <a16:creationId xmlns:a16="http://schemas.microsoft.com/office/drawing/2014/main" id="{AA7E2475-13C4-9385-87CD-4BB65220D9F5}"/>
              </a:ext>
            </a:extLst>
          </p:cNvPr>
          <p:cNvSpPr txBox="1"/>
          <p:nvPr/>
        </p:nvSpPr>
        <p:spPr>
          <a:xfrm>
            <a:off x="196027" y="2004333"/>
            <a:ext cx="11985812" cy="769441"/>
          </a:xfrm>
          <a:prstGeom prst="rect">
            <a:avLst/>
          </a:prstGeom>
          <a:noFill/>
        </p:spPr>
        <p:txBody>
          <a:bodyPr wrap="square" rtlCol="0">
            <a:spAutoFit/>
          </a:bodyPr>
          <a:lstStyle/>
          <a:p>
            <a:pPr algn="ctr" defTabSz="457200"/>
            <a:r>
              <a:rPr lang="en-US" sz="4400" b="1" dirty="0">
                <a:ln w="12700">
                  <a:solidFill>
                    <a:schemeClr val="accent1"/>
                  </a:solidFill>
                  <a:prstDash val="solid"/>
                </a:ln>
                <a:solidFill>
                  <a:schemeClr val="accent2"/>
                </a:solidFill>
                <a:effectLst>
                  <a:outerShdw blurRad="50800" dist="38100" dir="10800000" algn="r" rotWithShape="0">
                    <a:prstClr val="black">
                      <a:alpha val="40000"/>
                    </a:prstClr>
                  </a:outerShdw>
                </a:effectLst>
              </a:rPr>
              <a:t>HỘI ĐỒNG BẢO VỆ KHÓA LUẬN CỬ NHÂN</a:t>
            </a:r>
            <a:endParaRPr lang="x-none" sz="4400" b="1" dirty="0">
              <a:ln w="12700">
                <a:solidFill>
                  <a:schemeClr val="accent1"/>
                </a:solidFill>
                <a:prstDash val="solid"/>
              </a:ln>
              <a:solidFill>
                <a:schemeClr val="accent2"/>
              </a:solidFill>
              <a:effectLst>
                <a:outerShdw blurRad="50800" dist="38100" dir="10800000" algn="r" rotWithShape="0">
                  <a:prstClr val="black">
                    <a:alpha val="40000"/>
                  </a:prstClr>
                </a:outerShdw>
              </a:effectLst>
            </a:endParaRPr>
          </a:p>
        </p:txBody>
      </p:sp>
      <p:sp>
        <p:nvSpPr>
          <p:cNvPr id="2" name="Slide Number Placeholder 1"/>
          <p:cNvSpPr>
            <a:spLocks noGrp="1"/>
          </p:cNvSpPr>
          <p:nvPr>
            <p:ph type="sldNum" sz="quarter" idx="12"/>
          </p:nvPr>
        </p:nvSpPr>
        <p:spPr/>
        <p:txBody>
          <a:bodyPr/>
          <a:lstStyle/>
          <a:p>
            <a:fld id="{D379440A-2DED-3643-ADED-9B5C83E7D828}" type="slidenum">
              <a:rPr lang="x-none" smtClean="0"/>
              <a:pPr/>
              <a:t>0</a:t>
            </a:fld>
            <a:endParaRPr lang="x-none"/>
          </a:p>
        </p:txBody>
      </p:sp>
      <p:sp>
        <p:nvSpPr>
          <p:cNvPr id="4" name="TextBox 3">
            <a:extLst>
              <a:ext uri="{FF2B5EF4-FFF2-40B4-BE49-F238E27FC236}">
                <a16:creationId xmlns:a16="http://schemas.microsoft.com/office/drawing/2014/main" id="{43C98097-CF42-41C5-65D6-13F5378C8AF1}"/>
              </a:ext>
            </a:extLst>
          </p:cNvPr>
          <p:cNvSpPr txBox="1"/>
          <p:nvPr/>
        </p:nvSpPr>
        <p:spPr>
          <a:xfrm>
            <a:off x="196026" y="2862902"/>
            <a:ext cx="11985813" cy="2431435"/>
          </a:xfrm>
          <a:prstGeom prst="rect">
            <a:avLst/>
          </a:prstGeom>
          <a:noFill/>
        </p:spPr>
        <p:txBody>
          <a:bodyPr wrap="square" rtlCol="0">
            <a:spAutoFit/>
          </a:bodyPr>
          <a:lstStyle/>
          <a:p>
            <a:pPr algn="ctr" defTabSz="457200"/>
            <a:r>
              <a:rPr lang="en-US" sz="3000" b="1">
                <a:solidFill>
                  <a:srgbClr val="C00000"/>
                </a:solidFill>
              </a:rPr>
              <a:t>NGÀNH CÔNG NGHỆ THÔNG TIN, AN TOÀN THÔNG TIN</a:t>
            </a:r>
          </a:p>
          <a:p>
            <a:pPr algn="ctr" defTabSz="457200"/>
            <a:r>
              <a:rPr lang="en-US" sz="3000" b="1">
                <a:solidFill>
                  <a:srgbClr val="C00000"/>
                </a:solidFill>
              </a:rPr>
              <a:t>KHÓA 13DHTH &amp; 13DHBM</a:t>
            </a:r>
          </a:p>
          <a:p>
            <a:pPr algn="ctr" defTabSz="457200"/>
            <a:endParaRPr lang="en-US" sz="1000" b="1">
              <a:solidFill>
                <a:srgbClr val="C00000"/>
              </a:solidFill>
            </a:endParaRPr>
          </a:p>
          <a:p>
            <a:pPr algn="ctr" defTabSz="457200"/>
            <a:r>
              <a:rPr lang="en-US" sz="2600" b="1">
                <a:solidFill>
                  <a:schemeClr val="accent2"/>
                </a:solidFill>
                <a:ea typeface="Calibri" panose="020F0502020204030204" pitchFamily="34" charset="0"/>
                <a:cs typeface="Calibri" panose="020F0502020204030204" pitchFamily="34" charset="0"/>
              </a:rPr>
              <a:t>Học kỳ 1, năm học 2025 - 2026</a:t>
            </a:r>
          </a:p>
          <a:p>
            <a:pPr algn="ctr" defTabSz="457200"/>
            <a:r>
              <a:rPr lang="en-US" sz="2600" b="1">
                <a:solidFill>
                  <a:schemeClr val="accent2"/>
                </a:solidFill>
                <a:ea typeface="Calibri" panose="020F0502020204030204" pitchFamily="34" charset="0"/>
                <a:cs typeface="Calibri" panose="020F0502020204030204" pitchFamily="34" charset="0"/>
              </a:rPr>
              <a:t>Thời gian: 08/12/2025 – 28/12/2025</a:t>
            </a:r>
          </a:p>
          <a:p>
            <a:pPr algn="ctr" defTabSz="457200"/>
            <a:r>
              <a:rPr lang="en-US" sz="3000" b="1">
                <a:solidFill>
                  <a:schemeClr val="accent1"/>
                </a:solidFill>
              </a:rPr>
              <a:t> </a:t>
            </a:r>
          </a:p>
        </p:txBody>
      </p:sp>
    </p:spTree>
    <p:extLst>
      <p:ext uri="{BB962C8B-B14F-4D97-AF65-F5344CB8AC3E}">
        <p14:creationId xmlns:p14="http://schemas.microsoft.com/office/powerpoint/2010/main" val="164244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379440A-2DED-3643-ADED-9B5C83E7D828}" type="slidenum">
              <a:rPr lang="en-VN" smtClean="0"/>
              <a:pPr/>
              <a:t>1</a:t>
            </a:fld>
            <a:endParaRPr lang="en-VN"/>
          </a:p>
        </p:txBody>
      </p:sp>
      <p:sp>
        <p:nvSpPr>
          <p:cNvPr id="3" name="TextBox 2">
            <a:extLst>
              <a:ext uri="{FF2B5EF4-FFF2-40B4-BE49-F238E27FC236}">
                <a16:creationId xmlns:a16="http://schemas.microsoft.com/office/drawing/2014/main" id="{D9AEB16A-AC48-B0FE-8DE2-D78D3FC7F5B2}"/>
              </a:ext>
            </a:extLst>
          </p:cNvPr>
          <p:cNvSpPr txBox="1"/>
          <p:nvPr/>
        </p:nvSpPr>
        <p:spPr>
          <a:xfrm>
            <a:off x="0" y="745750"/>
            <a:ext cx="12192000" cy="1585049"/>
          </a:xfrm>
          <a:prstGeom prst="rect">
            <a:avLst/>
          </a:prstGeom>
          <a:noFill/>
        </p:spPr>
        <p:txBody>
          <a:bodyPr wrap="square">
            <a:spAutoFit/>
          </a:bodyPr>
          <a:lstStyle/>
          <a:p>
            <a:pPr marL="0" marR="0" algn="ctr">
              <a:spcBef>
                <a:spcPts val="0"/>
              </a:spcBef>
              <a:spcAft>
                <a:spcPts val="0"/>
              </a:spcAft>
            </a:pPr>
            <a:r>
              <a:rPr lang="vi-VN" sz="3600" b="1"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a:spcBef>
                <a:spcPts val="0"/>
              </a:spcBef>
              <a:spcAft>
                <a:spcPts val="0"/>
              </a:spcAft>
            </a:pPr>
            <a:r>
              <a:rPr lang="en-US" sz="3200" b="1" dirty="0">
                <a:solidFill>
                  <a:srgbClr val="FF0000"/>
                </a:solidFill>
                <a:effectLst/>
                <a:latin typeface="Times New Roman" panose="02020603050405020304" pitchFamily="18" charset="0"/>
                <a:ea typeface="Times New Roman" panose="02020603050405020304" pitchFamily="18" charset="0"/>
              </a:rPr>
              <a:t>BÁO CÁO </a:t>
            </a:r>
            <a:r>
              <a:rPr lang="vi-VN" sz="3200" b="1" dirty="0">
                <a:solidFill>
                  <a:srgbClr val="FF0000"/>
                </a:solidFill>
                <a:effectLst/>
                <a:latin typeface="Times New Roman" panose="02020603050405020304" pitchFamily="18" charset="0"/>
                <a:ea typeface="Times New Roman" panose="02020603050405020304" pitchFamily="18" charset="0"/>
              </a:rPr>
              <a:t>KHÓA LUẬN </a:t>
            </a:r>
            <a:r>
              <a:rPr lang="en-US" sz="3200" b="1" dirty="0">
                <a:solidFill>
                  <a:srgbClr val="FF0000"/>
                </a:solidFill>
                <a:effectLst/>
                <a:latin typeface="Times New Roman" panose="02020603050405020304" pitchFamily="18" charset="0"/>
                <a:ea typeface="Times New Roman" panose="02020603050405020304" pitchFamily="18" charset="0"/>
              </a:rPr>
              <a:t>CỬ NHÂN</a:t>
            </a:r>
            <a:endParaRPr lang="en-US" sz="1400" dirty="0">
              <a:effectLst/>
              <a:latin typeface="Times New Roman" panose="02020603050405020304" pitchFamily="18" charset="0"/>
              <a:ea typeface="Times New Roman" panose="02020603050405020304" pitchFamily="18" charset="0"/>
            </a:endParaRPr>
          </a:p>
          <a:p>
            <a:pPr marL="0" marR="0" algn="ctr">
              <a:spcBef>
                <a:spcPts val="600"/>
              </a:spcBef>
              <a:spcAft>
                <a:spcPts val="600"/>
              </a:spcAft>
            </a:pPr>
            <a:r>
              <a:rPr lang="vi-VN" sz="2400" b="1" dirty="0">
                <a:solidFill>
                  <a:srgbClr val="000000"/>
                </a:solidFill>
                <a:effectLst/>
                <a:latin typeface="Times New Roman" panose="02020603050405020304" pitchFamily="18" charset="0"/>
                <a:ea typeface="Times New Roman" panose="02020603050405020304" pitchFamily="18" charset="0"/>
              </a:rPr>
              <a:t>ĐỀ TÀI</a:t>
            </a:r>
            <a:r>
              <a:rPr lang="vi-VN" sz="2400" b="1">
                <a:solidFill>
                  <a:srgbClr val="000000"/>
                </a:solidFill>
                <a:effectLst/>
                <a:latin typeface="Times New Roman" panose="02020603050405020304" pitchFamily="18" charset="0"/>
                <a:ea typeface="Times New Roman" panose="02020603050405020304" pitchFamily="18" charset="0"/>
              </a:rPr>
              <a:t>: </a:t>
            </a:r>
            <a:r>
              <a:rPr lang="en-US" sz="2400" b="1">
                <a:solidFill>
                  <a:srgbClr val="000000"/>
                </a:solidFill>
                <a:effectLst/>
                <a:latin typeface="Times New Roman" panose="02020603050405020304" pitchFamily="18" charset="0"/>
                <a:ea typeface="Times New Roman" panose="02020603050405020304" pitchFamily="18" charset="0"/>
              </a:rPr>
              <a:t>WEB3 CHUYỂN ĐỔI SỐ QUẢN LÝ NHÂN SỰ</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1D5DB06-99CF-D981-5CCB-4502DF1857A8}"/>
              </a:ext>
            </a:extLst>
          </p:cNvPr>
          <p:cNvSpPr txBox="1"/>
          <p:nvPr/>
        </p:nvSpPr>
        <p:spPr>
          <a:xfrm>
            <a:off x="3993335" y="2683427"/>
            <a:ext cx="6102626" cy="452496"/>
          </a:xfrm>
          <a:prstGeom prst="rect">
            <a:avLst/>
          </a:prstGeom>
          <a:noFill/>
        </p:spPr>
        <p:txBody>
          <a:bodyPr wrap="square">
            <a:spAutoFit/>
          </a:bodyPr>
          <a:lstStyle/>
          <a:p>
            <a:pPr marL="0" marR="0" algn="ctr">
              <a:lnSpc>
                <a:spcPct val="130000"/>
              </a:lnSpc>
              <a:spcBef>
                <a:spcPts val="600"/>
              </a:spcBef>
              <a:spcAft>
                <a:spcPts val="600"/>
              </a:spcAft>
            </a:pPr>
            <a:r>
              <a:rPr lang="en-US" sz="20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Giảng </a:t>
            </a:r>
            <a:r>
              <a:rPr lang="en-US" sz="20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viên</a:t>
            </a: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hướng</a:t>
            </a: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dẫn</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TS.Trần Việt Hùng</a:t>
            </a:r>
            <a:endParaRPr lang="en-US" sz="2000" dirty="0">
              <a:effectLst/>
              <a:latin typeface="Times New Roman" panose="02020603050405020304" pitchFamily="18" charset="0"/>
              <a:ea typeface="Times New Roman" panose="02020603050405020304" pitchFamily="18" charset="0"/>
            </a:endParaRPr>
          </a:p>
        </p:txBody>
      </p:sp>
      <p:graphicFrame>
        <p:nvGraphicFramePr>
          <p:cNvPr id="9" name="Google Shape;352;p47">
            <a:extLst>
              <a:ext uri="{FF2B5EF4-FFF2-40B4-BE49-F238E27FC236}">
                <a16:creationId xmlns:a16="http://schemas.microsoft.com/office/drawing/2014/main" id="{782E92EA-880A-CC7F-FC36-C7D2674B1475}"/>
              </a:ext>
            </a:extLst>
          </p:cNvPr>
          <p:cNvGraphicFramePr/>
          <p:nvPr>
            <p:extLst>
              <p:ext uri="{D42A27DB-BD31-4B8C-83A1-F6EECF244321}">
                <p14:modId xmlns:p14="http://schemas.microsoft.com/office/powerpoint/2010/main" val="1984650582"/>
              </p:ext>
            </p:extLst>
          </p:nvPr>
        </p:nvGraphicFramePr>
        <p:xfrm>
          <a:off x="4581939" y="3311064"/>
          <a:ext cx="7434471" cy="1515720"/>
        </p:xfrm>
        <a:graphic>
          <a:graphicData uri="http://schemas.openxmlformats.org/drawingml/2006/table">
            <a:tbl>
              <a:tblPr>
                <a:noFill/>
              </a:tblPr>
              <a:tblGrid>
                <a:gridCol w="339033">
                  <a:extLst>
                    <a:ext uri="{9D8B030D-6E8A-4147-A177-3AD203B41FA5}">
                      <a16:colId xmlns:a16="http://schemas.microsoft.com/office/drawing/2014/main" val="3311542817"/>
                    </a:ext>
                  </a:extLst>
                </a:gridCol>
                <a:gridCol w="1876781">
                  <a:extLst>
                    <a:ext uri="{9D8B030D-6E8A-4147-A177-3AD203B41FA5}">
                      <a16:colId xmlns:a16="http://schemas.microsoft.com/office/drawing/2014/main" val="20000"/>
                    </a:ext>
                  </a:extLst>
                </a:gridCol>
                <a:gridCol w="3084418">
                  <a:extLst>
                    <a:ext uri="{9D8B030D-6E8A-4147-A177-3AD203B41FA5}">
                      <a16:colId xmlns:a16="http://schemas.microsoft.com/office/drawing/2014/main" val="20001"/>
                    </a:ext>
                  </a:extLst>
                </a:gridCol>
                <a:gridCol w="2134239">
                  <a:extLst>
                    <a:ext uri="{9D8B030D-6E8A-4147-A177-3AD203B41FA5}">
                      <a16:colId xmlns:a16="http://schemas.microsoft.com/office/drawing/2014/main" val="546454839"/>
                    </a:ext>
                  </a:extLst>
                </a:gridCol>
              </a:tblGrid>
              <a:tr h="347300">
                <a:tc>
                  <a:txBody>
                    <a:bodyPr/>
                    <a:lstStyle/>
                    <a:p>
                      <a:pPr marL="0" lvl="0" indent="0" algn="ctr" rtl="0">
                        <a:lnSpc>
                          <a:spcPct val="115000"/>
                        </a:lnSpc>
                        <a:spcBef>
                          <a:spcPts val="0"/>
                        </a:spcBef>
                        <a:spcAft>
                          <a:spcPts val="0"/>
                        </a:spcAft>
                        <a:buNone/>
                      </a:pPr>
                      <a:r>
                        <a:rPr lang="en-US" sz="2000" b="1" u="none" dirty="0">
                          <a:solidFill>
                            <a:schemeClr val="dk2"/>
                          </a:solidFill>
                          <a:latin typeface="Times New Roman" panose="02020603050405020304" pitchFamily="18" charset="0"/>
                          <a:ea typeface="Lato"/>
                          <a:cs typeface="Times New Roman" panose="02020603050405020304" pitchFamily="18" charset="0"/>
                          <a:sym typeface="Lato"/>
                        </a:rPr>
                        <a:t>1</a:t>
                      </a: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lgn="ctr">
                      <a:noFill/>
                      <a:prstDash val="dash"/>
                      <a:round/>
                      <a:headEnd type="none" w="sm" len="sm"/>
                      <a:tailEnd type="none" w="sm" len="sm"/>
                    </a:lnB>
                    <a:lnTlToBr w="12700" cmpd="sng">
                      <a:noFill/>
                      <a:prstDash val="solid"/>
                    </a:lnTlToBr>
                    <a:lnBlToTr w="12700" cmpd="sng">
                      <a:noFill/>
                      <a:prstDash val="solid"/>
                    </a:lnBlToTr>
                  </a:tcPr>
                </a:tc>
                <a:tc>
                  <a:txBody>
                    <a:bodyPr/>
                    <a:lstStyle/>
                    <a:p>
                      <a:pPr marL="0" lvl="0" indent="0" algn="ctr" rtl="0">
                        <a:lnSpc>
                          <a:spcPct val="115000"/>
                        </a:lnSpc>
                        <a:spcBef>
                          <a:spcPts val="0"/>
                        </a:spcBef>
                        <a:spcAft>
                          <a:spcPts val="0"/>
                        </a:spcAft>
                        <a:buNone/>
                      </a:pPr>
                      <a:r>
                        <a:rPr lang="en-US" sz="2000" b="0" u="none">
                          <a:solidFill>
                            <a:schemeClr val="tx1"/>
                          </a:solidFill>
                          <a:latin typeface="Times New Roman" panose="02020603050405020304" pitchFamily="18" charset="0"/>
                          <a:ea typeface="Lato"/>
                          <a:cs typeface="Times New Roman" panose="02020603050405020304" pitchFamily="18" charset="0"/>
                          <a:sym typeface="Lato"/>
                        </a:rPr>
                        <a:t>2001226049</a:t>
                      </a:r>
                      <a:endParaRPr lang="en-US" sz="2000" b="0" u="none" dirty="0">
                        <a:solidFill>
                          <a:schemeClr val="tx1"/>
                        </a:solidFill>
                        <a:latin typeface="Times New Roman" panose="02020603050405020304" pitchFamily="18" charset="0"/>
                        <a:ea typeface="Lato"/>
                        <a:cs typeface="Times New Roman" panose="02020603050405020304" pitchFamily="18" charset="0"/>
                        <a:sym typeface="Lato"/>
                      </a:endParaRPr>
                    </a:p>
                  </a:txBody>
                  <a:tcPr marL="91425" marR="91425" marT="91425" marB="91425">
                    <a:lnL w="9525" cap="flat" cmpd="sng" algn="ctr">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tc>
                  <a:txBody>
                    <a:bodyPr/>
                    <a:lstStyle/>
                    <a:p>
                      <a:pPr marL="0" lvl="0" indent="0" algn="l" rtl="0">
                        <a:lnSpc>
                          <a:spcPct val="115000"/>
                        </a:lnSpc>
                        <a:spcBef>
                          <a:spcPts val="0"/>
                        </a:spcBef>
                        <a:spcAft>
                          <a:spcPts val="0"/>
                        </a:spcAft>
                        <a:buNone/>
                      </a:pPr>
                      <a:r>
                        <a:rPr lang="en-US" sz="2000" b="0" u="none">
                          <a:solidFill>
                            <a:schemeClr val="tx1"/>
                          </a:solidFill>
                          <a:latin typeface="Times New Roman" panose="02020603050405020304" pitchFamily="18" charset="0"/>
                          <a:ea typeface="Lato"/>
                          <a:cs typeface="Times New Roman" panose="02020603050405020304" pitchFamily="18" charset="0"/>
                          <a:sym typeface="Lato"/>
                        </a:rPr>
                        <a:t>Ngô Hùng Vỹ</a:t>
                      </a:r>
                      <a:endParaRPr lang="en-US" sz="2000" b="0" u="none" dirty="0">
                        <a:solidFill>
                          <a:schemeClr val="tx1"/>
                        </a:solidFill>
                        <a:latin typeface="Times New Roman" panose="02020603050405020304" pitchFamily="18" charset="0"/>
                        <a:ea typeface="Lato"/>
                        <a:cs typeface="Times New Roman" panose="02020603050405020304" pitchFamily="18" charset="0"/>
                        <a:sym typeface="Lato"/>
                      </a:endParaRP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tc>
                  <a:txBody>
                    <a:bodyPr/>
                    <a:lstStyle/>
                    <a:p>
                      <a:pPr marL="0" lvl="0" indent="0" algn="ctr" rtl="0">
                        <a:lnSpc>
                          <a:spcPct val="115000"/>
                        </a:lnSpc>
                        <a:spcBef>
                          <a:spcPts val="0"/>
                        </a:spcBef>
                        <a:spcAft>
                          <a:spcPts val="1600"/>
                        </a:spcAft>
                        <a:buNone/>
                      </a:pPr>
                      <a:r>
                        <a:rPr lang="en" sz="2000" b="0" u="none" dirty="0">
                          <a:solidFill>
                            <a:schemeClr val="tx1"/>
                          </a:solidFill>
                          <a:latin typeface="Times New Roman" panose="02020603050405020304" pitchFamily="18" charset="0"/>
                          <a:ea typeface="Lato"/>
                          <a:cs typeface="Times New Roman" panose="02020603050405020304" pitchFamily="18" charset="0"/>
                          <a:sym typeface="Lato"/>
                        </a:rPr>
                        <a:t>13DHTH02</a:t>
                      </a: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7300">
                <a:tc>
                  <a:txBody>
                    <a:bodyPr/>
                    <a:lstStyle/>
                    <a:p>
                      <a:pPr marL="0" lvl="0" indent="0" algn="ctr" rtl="0">
                        <a:lnSpc>
                          <a:spcPct val="115000"/>
                        </a:lnSpc>
                        <a:spcBef>
                          <a:spcPts val="0"/>
                        </a:spcBef>
                        <a:spcAft>
                          <a:spcPts val="0"/>
                        </a:spcAft>
                        <a:buNone/>
                      </a:pPr>
                      <a:r>
                        <a:rPr lang="en-US" sz="2000" b="1" u="none">
                          <a:solidFill>
                            <a:schemeClr val="dk2"/>
                          </a:solidFill>
                          <a:latin typeface="Times New Roman" panose="02020603050405020304" pitchFamily="18" charset="0"/>
                          <a:ea typeface="Lato"/>
                          <a:cs typeface="Times New Roman" panose="02020603050405020304" pitchFamily="18" charset="0"/>
                          <a:sym typeface="Lato"/>
                        </a:rPr>
                        <a:t>2</a:t>
                      </a: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lgn="ctr">
                      <a:noFill/>
                      <a:prstDash val="dash"/>
                      <a:round/>
                      <a:headEnd type="none" w="sm" len="sm"/>
                      <a:tailEnd type="none" w="sm" len="sm"/>
                    </a:lnT>
                    <a:lnB w="9525" cap="flat" cmpd="sng" algn="ctr">
                      <a:noFill/>
                      <a:prstDash val="dash"/>
                      <a:round/>
                      <a:headEnd type="none" w="sm" len="sm"/>
                      <a:tailEnd type="none" w="sm" len="sm"/>
                    </a:lnB>
                    <a:lnTlToBr w="12700" cmpd="sng">
                      <a:noFill/>
                      <a:prstDash val="solid"/>
                    </a:lnTlToBr>
                    <a:lnBlToTr w="12700" cmpd="sng">
                      <a:noFill/>
                      <a:prstDash val="solid"/>
                    </a:lnBlToTr>
                  </a:tcPr>
                </a:tc>
                <a:tc>
                  <a:txBody>
                    <a:bodyPr/>
                    <a:lstStyle/>
                    <a:p>
                      <a:pPr marL="0" lvl="0" indent="0" algn="ctr" rtl="0">
                        <a:lnSpc>
                          <a:spcPct val="115000"/>
                        </a:lnSpc>
                        <a:spcBef>
                          <a:spcPts val="0"/>
                        </a:spcBef>
                        <a:spcAft>
                          <a:spcPts val="0"/>
                        </a:spcAft>
                        <a:buNone/>
                      </a:pPr>
                      <a:r>
                        <a:rPr lang="en-US" sz="2000" b="0" i="0" kern="1200">
                          <a:solidFill>
                            <a:schemeClr val="tx1"/>
                          </a:solidFill>
                          <a:effectLst/>
                          <a:latin typeface="Times New Roman" panose="02020603050405020304" pitchFamily="18" charset="0"/>
                          <a:ea typeface="+mn-ea"/>
                          <a:cs typeface="Times New Roman" panose="02020603050405020304" pitchFamily="18" charset="0"/>
                        </a:rPr>
                        <a:t>2001220928</a:t>
                      </a:r>
                      <a:endParaRPr lang="en-US" sz="2000" b="0" i="0" u="none" dirty="0">
                        <a:solidFill>
                          <a:schemeClr val="tx1"/>
                        </a:solidFill>
                        <a:latin typeface="Times New Roman" panose="02020603050405020304" pitchFamily="18" charset="0"/>
                        <a:ea typeface="Lato"/>
                        <a:cs typeface="Times New Roman" panose="02020603050405020304" pitchFamily="18" charset="0"/>
                        <a:sym typeface="Lato"/>
                      </a:endParaRPr>
                    </a:p>
                  </a:txBody>
                  <a:tcPr marL="91425" marR="91425" marT="91425" marB="91425">
                    <a:lnL w="9525" cap="flat" cmpd="sng" algn="ctr">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tc>
                  <a:txBody>
                    <a:bodyPr/>
                    <a:lstStyle/>
                    <a:p>
                      <a:pPr marL="0" marR="0" lvl="0" indent="0" algn="l" rtl="0">
                        <a:lnSpc>
                          <a:spcPct val="115000"/>
                        </a:lnSpc>
                        <a:spcBef>
                          <a:spcPts val="0"/>
                        </a:spcBef>
                        <a:spcAft>
                          <a:spcPts val="1600"/>
                        </a:spcAft>
                        <a:buClr>
                          <a:srgbClr val="000000"/>
                        </a:buClr>
                        <a:buFont typeface="Arial"/>
                        <a:buNone/>
                      </a:pPr>
                      <a:r>
                        <a:rPr lang="en-US" sz="2000" b="0" i="0" u="none" strike="noStrike" cap="none">
                          <a:solidFill>
                            <a:schemeClr val="tx1"/>
                          </a:solidFill>
                          <a:latin typeface="Times New Roman" panose="02020603050405020304" pitchFamily="18" charset="0"/>
                          <a:ea typeface="Lato"/>
                          <a:cs typeface="Times New Roman" panose="02020603050405020304" pitchFamily="18" charset="0"/>
                          <a:sym typeface="Lato"/>
                        </a:rPr>
                        <a:t>Lại Thành Đạt</a:t>
                      </a:r>
                      <a:endParaRPr lang="en-US" sz="2000" b="0" i="0" u="none" strike="noStrike" cap="none" dirty="0">
                        <a:solidFill>
                          <a:schemeClr val="tx1"/>
                        </a:solidFill>
                        <a:latin typeface="Times New Roman" panose="02020603050405020304" pitchFamily="18" charset="0"/>
                        <a:ea typeface="Lato"/>
                        <a:cs typeface="Times New Roman" panose="02020603050405020304" pitchFamily="18" charset="0"/>
                        <a:sym typeface="Lato"/>
                      </a:endParaRP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15000"/>
                        </a:lnSpc>
                        <a:spcBef>
                          <a:spcPts val="0"/>
                        </a:spcBef>
                        <a:spcAft>
                          <a:spcPts val="1600"/>
                        </a:spcAft>
                        <a:buClr>
                          <a:srgbClr val="000000"/>
                        </a:buClr>
                        <a:buSzTx/>
                        <a:buFont typeface="Arial"/>
                        <a:buNone/>
                        <a:tabLst/>
                        <a:defRPr/>
                      </a:pPr>
                      <a:r>
                        <a:rPr lang="en" sz="2000" b="0" u="none" dirty="0">
                          <a:solidFill>
                            <a:schemeClr val="tx1"/>
                          </a:solidFill>
                          <a:latin typeface="Times New Roman" panose="02020603050405020304" pitchFamily="18" charset="0"/>
                          <a:ea typeface="Lato"/>
                          <a:cs typeface="Times New Roman" panose="02020603050405020304" pitchFamily="18" charset="0"/>
                          <a:sym typeface="Lato"/>
                        </a:rPr>
                        <a:t>13DHTH02</a:t>
                      </a: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47300">
                <a:tc>
                  <a:txBody>
                    <a:bodyPr/>
                    <a:lstStyle/>
                    <a:p>
                      <a:pPr marL="0" lvl="0" indent="0" algn="ctr" rtl="0">
                        <a:lnSpc>
                          <a:spcPct val="115000"/>
                        </a:lnSpc>
                        <a:spcBef>
                          <a:spcPts val="0"/>
                        </a:spcBef>
                        <a:spcAft>
                          <a:spcPts val="0"/>
                        </a:spcAft>
                        <a:buNone/>
                      </a:pPr>
                      <a:r>
                        <a:rPr lang="en-US" sz="2000" b="1" u="none">
                          <a:solidFill>
                            <a:schemeClr val="dk2"/>
                          </a:solidFill>
                          <a:latin typeface="Times New Roman" panose="02020603050405020304" pitchFamily="18" charset="0"/>
                          <a:ea typeface="Lato"/>
                          <a:cs typeface="Times New Roman" panose="02020603050405020304" pitchFamily="18" charset="0"/>
                          <a:sym typeface="Lato"/>
                        </a:rPr>
                        <a:t>3</a:t>
                      </a: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lgn="ctr">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tc>
                  <a:txBody>
                    <a:bodyPr/>
                    <a:lstStyle/>
                    <a:p>
                      <a:pPr marL="0" lvl="0" indent="0" algn="ctr" rtl="0">
                        <a:lnSpc>
                          <a:spcPct val="115000"/>
                        </a:lnSpc>
                        <a:spcBef>
                          <a:spcPts val="0"/>
                        </a:spcBef>
                        <a:spcAft>
                          <a:spcPts val="0"/>
                        </a:spcAft>
                        <a:buNone/>
                      </a:pPr>
                      <a:r>
                        <a:rPr lang="en-US" sz="2000" b="0" u="none">
                          <a:solidFill>
                            <a:schemeClr val="tx1"/>
                          </a:solidFill>
                          <a:latin typeface="Times New Roman" panose="02020603050405020304" pitchFamily="18" charset="0"/>
                          <a:ea typeface="Lato"/>
                          <a:cs typeface="Times New Roman" panose="02020603050405020304" pitchFamily="18" charset="0"/>
                          <a:sym typeface="Lato"/>
                        </a:rPr>
                        <a:t>2001221679</a:t>
                      </a:r>
                      <a:endParaRPr lang="en-US" sz="2000" b="0" u="none" dirty="0">
                        <a:solidFill>
                          <a:schemeClr val="tx1"/>
                        </a:solidFill>
                        <a:latin typeface="Times New Roman" panose="02020603050405020304" pitchFamily="18" charset="0"/>
                        <a:ea typeface="Lato"/>
                        <a:cs typeface="Times New Roman" panose="02020603050405020304" pitchFamily="18" charset="0"/>
                        <a:sym typeface="Lato"/>
                      </a:endParaRPr>
                    </a:p>
                  </a:txBody>
                  <a:tcPr marL="91425" marR="91425" marT="91425" marB="91425">
                    <a:lnL w="9525" cap="flat" cmpd="sng" algn="ctr">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tc>
                  <a:txBody>
                    <a:bodyPr/>
                    <a:lstStyle/>
                    <a:p>
                      <a:pPr marL="0" marR="0" lvl="0" indent="0" algn="l" rtl="0">
                        <a:lnSpc>
                          <a:spcPct val="115000"/>
                        </a:lnSpc>
                        <a:spcBef>
                          <a:spcPts val="0"/>
                        </a:spcBef>
                        <a:spcAft>
                          <a:spcPts val="1600"/>
                        </a:spcAft>
                        <a:buClr>
                          <a:srgbClr val="000000"/>
                        </a:buClr>
                        <a:buFont typeface="Arial" panose="020B0604020202020204" pitchFamily="34" charset="0"/>
                        <a:buNone/>
                      </a:pPr>
                      <a:r>
                        <a:rPr lang="en-US" sz="2000" b="0" i="0" u="none" strike="noStrike" cap="none">
                          <a:solidFill>
                            <a:schemeClr val="tx1"/>
                          </a:solidFill>
                          <a:latin typeface="Times New Roman" panose="02020603050405020304" pitchFamily="18" charset="0"/>
                          <a:ea typeface="Lato"/>
                          <a:cs typeface="Times New Roman" panose="02020603050405020304" pitchFamily="18" charset="0"/>
                          <a:sym typeface="Lato"/>
                        </a:rPr>
                        <a:t>Nguyễn Hoàng Nhật Huy</a:t>
                      </a:r>
                      <a:endParaRPr lang="en-US" sz="2000" b="0" i="0" u="none" strike="noStrike" cap="none" dirty="0">
                        <a:solidFill>
                          <a:schemeClr val="tx1"/>
                        </a:solidFill>
                        <a:latin typeface="Times New Roman" panose="02020603050405020304" pitchFamily="18" charset="0"/>
                        <a:ea typeface="Lato"/>
                        <a:cs typeface="Times New Roman" panose="02020603050405020304" pitchFamily="18" charset="0"/>
                        <a:sym typeface="Lato"/>
                      </a:endParaRP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15000"/>
                        </a:lnSpc>
                        <a:spcBef>
                          <a:spcPts val="0"/>
                        </a:spcBef>
                        <a:spcAft>
                          <a:spcPts val="1600"/>
                        </a:spcAft>
                        <a:buClr>
                          <a:srgbClr val="000000"/>
                        </a:buClr>
                        <a:buFont typeface="Arial"/>
                        <a:buNone/>
                      </a:pPr>
                      <a:r>
                        <a:rPr lang="en-US" sz="2000" b="0" i="0" u="none" strike="noStrike" cap="none" dirty="0">
                          <a:solidFill>
                            <a:schemeClr val="tx1"/>
                          </a:solidFill>
                          <a:latin typeface="Times New Roman" panose="02020603050405020304" pitchFamily="18" charset="0"/>
                          <a:ea typeface="Lato"/>
                          <a:cs typeface="Times New Roman" panose="02020603050405020304" pitchFamily="18" charset="0"/>
                          <a:sym typeface="Lato"/>
                        </a:rPr>
                        <a:t>13DHTH02</a:t>
                      </a:r>
                    </a:p>
                  </a:txBody>
                  <a:tcPr marL="91425" marR="91425" marT="91425" marB="91425">
                    <a:lnL w="9525" cap="flat" cmpd="sng">
                      <a:noFill/>
                      <a:prstDash val="dash"/>
                      <a:round/>
                      <a:headEnd type="none" w="sm" len="sm"/>
                      <a:tailEnd type="none" w="sm" len="sm"/>
                    </a:lnL>
                    <a:lnR w="9525" cap="flat" cmpd="sng">
                      <a:noFill/>
                      <a:prstDash val="dash"/>
                      <a:round/>
                      <a:headEnd type="none" w="sm" len="sm"/>
                      <a:tailEnd type="none" w="sm" len="sm"/>
                    </a:lnR>
                    <a:lnT w="9525" cap="flat" cmpd="sng">
                      <a:noFill/>
                      <a:prstDash val="dash"/>
                      <a:round/>
                      <a:headEnd type="none" w="sm" len="sm"/>
                      <a:tailEnd type="none" w="sm" len="sm"/>
                    </a:lnT>
                    <a:lnB w="9525" cap="flat" cmpd="sng">
                      <a:noFill/>
                      <a:prstDash val="dash"/>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0855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C92DF-DC62-B512-C46F-E47C9000A327}"/>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2F3D4D1B-923A-134B-FA4C-716541DFBCDA}"/>
              </a:ext>
            </a:extLst>
          </p:cNvPr>
          <p:cNvSpPr>
            <a:spLocks noGrp="1"/>
          </p:cNvSpPr>
          <p:nvPr>
            <p:ph type="title"/>
          </p:nvPr>
        </p:nvSpPr>
        <p:spPr/>
        <p:txBody>
          <a:bodyPr/>
          <a:lstStyle/>
          <a:p>
            <a:r>
              <a:rPr lang="en-US" dirty="0"/>
              <a:t>NỘI DUNG</a:t>
            </a:r>
          </a:p>
        </p:txBody>
      </p:sp>
      <p:sp>
        <p:nvSpPr>
          <p:cNvPr id="3" name="Slide Number Placeholder 2">
            <a:extLst>
              <a:ext uri="{FF2B5EF4-FFF2-40B4-BE49-F238E27FC236}">
                <a16:creationId xmlns:a16="http://schemas.microsoft.com/office/drawing/2014/main" id="{54E43CB8-4D94-3B42-516C-139449C11A98}"/>
              </a:ext>
            </a:extLst>
          </p:cNvPr>
          <p:cNvSpPr>
            <a:spLocks noGrp="1"/>
          </p:cNvSpPr>
          <p:nvPr>
            <p:ph type="sldNum" sz="quarter" idx="12"/>
          </p:nvPr>
        </p:nvSpPr>
        <p:spPr/>
        <p:txBody>
          <a:bodyPr/>
          <a:lstStyle/>
          <a:p>
            <a:fld id="{D379440A-2DED-3643-ADED-9B5C83E7D828}" type="slidenum">
              <a:rPr lang="en-VN" sz="1500" b="1" smtClean="0"/>
              <a:pPr/>
              <a:t>2</a:t>
            </a:fld>
            <a:endParaRPr lang="en-VN" sz="1500" b="1"/>
          </a:p>
        </p:txBody>
      </p:sp>
      <p:grpSp>
        <p:nvGrpSpPr>
          <p:cNvPr id="2" name="Google Shape;1030;p48">
            <a:extLst>
              <a:ext uri="{FF2B5EF4-FFF2-40B4-BE49-F238E27FC236}">
                <a16:creationId xmlns:a16="http://schemas.microsoft.com/office/drawing/2014/main" id="{DD6BC5EE-EC2F-DF72-1269-E1558831061B}"/>
              </a:ext>
            </a:extLst>
          </p:cNvPr>
          <p:cNvGrpSpPr/>
          <p:nvPr/>
        </p:nvGrpSpPr>
        <p:grpSpPr>
          <a:xfrm>
            <a:off x="572137" y="1728233"/>
            <a:ext cx="887607" cy="742879"/>
            <a:chOff x="9878272" y="2682320"/>
            <a:chExt cx="720199" cy="719767"/>
          </a:xfrm>
        </p:grpSpPr>
        <p:sp>
          <p:nvSpPr>
            <p:cNvPr id="4" name="Google Shape;1031;p48">
              <a:extLst>
                <a:ext uri="{FF2B5EF4-FFF2-40B4-BE49-F238E27FC236}">
                  <a16:creationId xmlns:a16="http://schemas.microsoft.com/office/drawing/2014/main" id="{45C8F93A-9847-A8CB-45E1-0060BA3B78BD}"/>
                </a:ext>
              </a:extLst>
            </p:cNvPr>
            <p:cNvSpPr/>
            <p:nvPr/>
          </p:nvSpPr>
          <p:spPr>
            <a:xfrm>
              <a:off x="10056560" y="2963533"/>
              <a:ext cx="541911" cy="438554"/>
            </a:xfrm>
            <a:custGeom>
              <a:avLst/>
              <a:gdLst/>
              <a:ahLst/>
              <a:cxnLst/>
              <a:rect l="l" t="t" r="r" b="b"/>
              <a:pathLst>
                <a:path w="861" h="697" extrusionOk="0">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5" name="Google Shape;1032;p48">
              <a:extLst>
                <a:ext uri="{FF2B5EF4-FFF2-40B4-BE49-F238E27FC236}">
                  <a16:creationId xmlns:a16="http://schemas.microsoft.com/office/drawing/2014/main" id="{B6D66B6F-91C9-D248-0A23-F2029E7FC432}"/>
                </a:ext>
              </a:extLst>
            </p:cNvPr>
            <p:cNvSpPr/>
            <p:nvPr/>
          </p:nvSpPr>
          <p:spPr>
            <a:xfrm>
              <a:off x="9878272" y="2791266"/>
              <a:ext cx="459066" cy="594405"/>
            </a:xfrm>
            <a:custGeom>
              <a:avLst/>
              <a:gdLst/>
              <a:ahLst/>
              <a:cxnLst/>
              <a:rect l="l" t="t" r="r" b="b"/>
              <a:pathLst>
                <a:path w="729" h="945" extrusionOk="0">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6" name="Google Shape;1033;p48">
              <a:extLst>
                <a:ext uri="{FF2B5EF4-FFF2-40B4-BE49-F238E27FC236}">
                  <a16:creationId xmlns:a16="http://schemas.microsoft.com/office/drawing/2014/main" id="{1617C74E-D118-767E-C8C3-9989141639FA}"/>
                </a:ext>
              </a:extLst>
            </p:cNvPr>
            <p:cNvSpPr/>
            <p:nvPr/>
          </p:nvSpPr>
          <p:spPr>
            <a:xfrm>
              <a:off x="9994853" y="2682320"/>
              <a:ext cx="583546" cy="500170"/>
            </a:xfrm>
            <a:custGeom>
              <a:avLst/>
              <a:gdLst/>
              <a:ahLst/>
              <a:cxnLst/>
              <a:rect l="l" t="t" r="r" b="b"/>
              <a:pathLst>
                <a:path w="927" h="795" extrusionOk="0">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grpSp>
      <p:grpSp>
        <p:nvGrpSpPr>
          <p:cNvPr id="7" name="Google Shape;1030;p48">
            <a:extLst>
              <a:ext uri="{FF2B5EF4-FFF2-40B4-BE49-F238E27FC236}">
                <a16:creationId xmlns:a16="http://schemas.microsoft.com/office/drawing/2014/main" id="{BF50CCE1-A013-241E-E81F-290EF657EA0D}"/>
              </a:ext>
            </a:extLst>
          </p:cNvPr>
          <p:cNvGrpSpPr/>
          <p:nvPr/>
        </p:nvGrpSpPr>
        <p:grpSpPr>
          <a:xfrm>
            <a:off x="468423" y="4964722"/>
            <a:ext cx="887607" cy="742879"/>
            <a:chOff x="9878272" y="2682320"/>
            <a:chExt cx="720199" cy="719767"/>
          </a:xfrm>
        </p:grpSpPr>
        <p:sp>
          <p:nvSpPr>
            <p:cNvPr id="8" name="Google Shape;1031;p48">
              <a:extLst>
                <a:ext uri="{FF2B5EF4-FFF2-40B4-BE49-F238E27FC236}">
                  <a16:creationId xmlns:a16="http://schemas.microsoft.com/office/drawing/2014/main" id="{1DF81F0F-7A5A-8DAA-4E2A-F5ECF5B6F695}"/>
                </a:ext>
              </a:extLst>
            </p:cNvPr>
            <p:cNvSpPr/>
            <p:nvPr/>
          </p:nvSpPr>
          <p:spPr>
            <a:xfrm>
              <a:off x="10056560" y="2963533"/>
              <a:ext cx="541911" cy="438554"/>
            </a:xfrm>
            <a:custGeom>
              <a:avLst/>
              <a:gdLst/>
              <a:ahLst/>
              <a:cxnLst/>
              <a:rect l="l" t="t" r="r" b="b"/>
              <a:pathLst>
                <a:path w="861" h="697" extrusionOk="0">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9" name="Google Shape;1032;p48">
              <a:extLst>
                <a:ext uri="{FF2B5EF4-FFF2-40B4-BE49-F238E27FC236}">
                  <a16:creationId xmlns:a16="http://schemas.microsoft.com/office/drawing/2014/main" id="{C350257E-2D97-D840-588C-E3CF4F0046E0}"/>
                </a:ext>
              </a:extLst>
            </p:cNvPr>
            <p:cNvSpPr/>
            <p:nvPr/>
          </p:nvSpPr>
          <p:spPr>
            <a:xfrm>
              <a:off x="9878272" y="2791266"/>
              <a:ext cx="459066" cy="594405"/>
            </a:xfrm>
            <a:custGeom>
              <a:avLst/>
              <a:gdLst/>
              <a:ahLst/>
              <a:cxnLst/>
              <a:rect l="l" t="t" r="r" b="b"/>
              <a:pathLst>
                <a:path w="729" h="945" extrusionOk="0">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10" name="Google Shape;1033;p48">
              <a:extLst>
                <a:ext uri="{FF2B5EF4-FFF2-40B4-BE49-F238E27FC236}">
                  <a16:creationId xmlns:a16="http://schemas.microsoft.com/office/drawing/2014/main" id="{02270DD6-EA2A-FEC1-FEF7-9DC9398973A4}"/>
                </a:ext>
              </a:extLst>
            </p:cNvPr>
            <p:cNvSpPr/>
            <p:nvPr/>
          </p:nvSpPr>
          <p:spPr>
            <a:xfrm>
              <a:off x="9994853" y="2682320"/>
              <a:ext cx="583546" cy="500170"/>
            </a:xfrm>
            <a:custGeom>
              <a:avLst/>
              <a:gdLst/>
              <a:ahLst/>
              <a:cxnLst/>
              <a:rect l="l" t="t" r="r" b="b"/>
              <a:pathLst>
                <a:path w="927" h="795" extrusionOk="0">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grpSp>
      <p:grpSp>
        <p:nvGrpSpPr>
          <p:cNvPr id="11" name="Google Shape;1030;p48">
            <a:extLst>
              <a:ext uri="{FF2B5EF4-FFF2-40B4-BE49-F238E27FC236}">
                <a16:creationId xmlns:a16="http://schemas.microsoft.com/office/drawing/2014/main" id="{41364085-3268-2F2F-8F5F-08ADDED4C275}"/>
              </a:ext>
            </a:extLst>
          </p:cNvPr>
          <p:cNvGrpSpPr/>
          <p:nvPr/>
        </p:nvGrpSpPr>
        <p:grpSpPr>
          <a:xfrm>
            <a:off x="1014603" y="3891844"/>
            <a:ext cx="887607" cy="742879"/>
            <a:chOff x="9878272" y="2682320"/>
            <a:chExt cx="720199" cy="719767"/>
          </a:xfrm>
        </p:grpSpPr>
        <p:sp>
          <p:nvSpPr>
            <p:cNvPr id="12" name="Google Shape;1031;p48">
              <a:extLst>
                <a:ext uri="{FF2B5EF4-FFF2-40B4-BE49-F238E27FC236}">
                  <a16:creationId xmlns:a16="http://schemas.microsoft.com/office/drawing/2014/main" id="{316BF102-F4C5-9975-29FF-72F09D2A5B8F}"/>
                </a:ext>
              </a:extLst>
            </p:cNvPr>
            <p:cNvSpPr/>
            <p:nvPr/>
          </p:nvSpPr>
          <p:spPr>
            <a:xfrm>
              <a:off x="10056560" y="2963533"/>
              <a:ext cx="541911" cy="438554"/>
            </a:xfrm>
            <a:custGeom>
              <a:avLst/>
              <a:gdLst/>
              <a:ahLst/>
              <a:cxnLst/>
              <a:rect l="l" t="t" r="r" b="b"/>
              <a:pathLst>
                <a:path w="861" h="697" extrusionOk="0">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13" name="Google Shape;1032;p48">
              <a:extLst>
                <a:ext uri="{FF2B5EF4-FFF2-40B4-BE49-F238E27FC236}">
                  <a16:creationId xmlns:a16="http://schemas.microsoft.com/office/drawing/2014/main" id="{A2310778-C7D6-70E4-D06B-1BE9C144D492}"/>
                </a:ext>
              </a:extLst>
            </p:cNvPr>
            <p:cNvSpPr/>
            <p:nvPr/>
          </p:nvSpPr>
          <p:spPr>
            <a:xfrm>
              <a:off x="9878272" y="2791266"/>
              <a:ext cx="459066" cy="594405"/>
            </a:xfrm>
            <a:custGeom>
              <a:avLst/>
              <a:gdLst/>
              <a:ahLst/>
              <a:cxnLst/>
              <a:rect l="l" t="t" r="r" b="b"/>
              <a:pathLst>
                <a:path w="729" h="945" extrusionOk="0">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14" name="Google Shape;1033;p48">
              <a:extLst>
                <a:ext uri="{FF2B5EF4-FFF2-40B4-BE49-F238E27FC236}">
                  <a16:creationId xmlns:a16="http://schemas.microsoft.com/office/drawing/2014/main" id="{D1941500-5C77-103A-8600-15C6CA785BB5}"/>
                </a:ext>
              </a:extLst>
            </p:cNvPr>
            <p:cNvSpPr/>
            <p:nvPr/>
          </p:nvSpPr>
          <p:spPr>
            <a:xfrm>
              <a:off x="9994853" y="2682320"/>
              <a:ext cx="583546" cy="500170"/>
            </a:xfrm>
            <a:custGeom>
              <a:avLst/>
              <a:gdLst/>
              <a:ahLst/>
              <a:cxnLst/>
              <a:rect l="l" t="t" r="r" b="b"/>
              <a:pathLst>
                <a:path w="927" h="795" extrusionOk="0">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grpSp>
      <p:grpSp>
        <p:nvGrpSpPr>
          <p:cNvPr id="15" name="Google Shape;1030;p48">
            <a:extLst>
              <a:ext uri="{FF2B5EF4-FFF2-40B4-BE49-F238E27FC236}">
                <a16:creationId xmlns:a16="http://schemas.microsoft.com/office/drawing/2014/main" id="{83886B80-D77C-CF13-0918-9E1C6180822C}"/>
              </a:ext>
            </a:extLst>
          </p:cNvPr>
          <p:cNvGrpSpPr/>
          <p:nvPr/>
        </p:nvGrpSpPr>
        <p:grpSpPr>
          <a:xfrm>
            <a:off x="1018643" y="2753817"/>
            <a:ext cx="887607" cy="742879"/>
            <a:chOff x="9878272" y="2682320"/>
            <a:chExt cx="720199" cy="719767"/>
          </a:xfrm>
        </p:grpSpPr>
        <p:sp>
          <p:nvSpPr>
            <p:cNvPr id="16" name="Google Shape;1031;p48">
              <a:extLst>
                <a:ext uri="{FF2B5EF4-FFF2-40B4-BE49-F238E27FC236}">
                  <a16:creationId xmlns:a16="http://schemas.microsoft.com/office/drawing/2014/main" id="{5F0DB13F-8085-A9B6-66DC-072ED0A65142}"/>
                </a:ext>
              </a:extLst>
            </p:cNvPr>
            <p:cNvSpPr/>
            <p:nvPr/>
          </p:nvSpPr>
          <p:spPr>
            <a:xfrm>
              <a:off x="10056560" y="2963533"/>
              <a:ext cx="541911" cy="438554"/>
            </a:xfrm>
            <a:custGeom>
              <a:avLst/>
              <a:gdLst/>
              <a:ahLst/>
              <a:cxnLst/>
              <a:rect l="l" t="t" r="r" b="b"/>
              <a:pathLst>
                <a:path w="861" h="697" extrusionOk="0">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18" name="Google Shape;1032;p48">
              <a:extLst>
                <a:ext uri="{FF2B5EF4-FFF2-40B4-BE49-F238E27FC236}">
                  <a16:creationId xmlns:a16="http://schemas.microsoft.com/office/drawing/2014/main" id="{DEA1D350-FDDA-69BA-6928-60F4A81E28A4}"/>
                </a:ext>
              </a:extLst>
            </p:cNvPr>
            <p:cNvSpPr/>
            <p:nvPr/>
          </p:nvSpPr>
          <p:spPr>
            <a:xfrm>
              <a:off x="9878272" y="2791266"/>
              <a:ext cx="459066" cy="594405"/>
            </a:xfrm>
            <a:custGeom>
              <a:avLst/>
              <a:gdLst/>
              <a:ahLst/>
              <a:cxnLst/>
              <a:rect l="l" t="t" r="r" b="b"/>
              <a:pathLst>
                <a:path w="729" h="945" extrusionOk="0">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sp>
          <p:nvSpPr>
            <p:cNvPr id="19" name="Google Shape;1033;p48">
              <a:extLst>
                <a:ext uri="{FF2B5EF4-FFF2-40B4-BE49-F238E27FC236}">
                  <a16:creationId xmlns:a16="http://schemas.microsoft.com/office/drawing/2014/main" id="{8589BBFA-BE14-C367-C017-BD6D64CF7CAE}"/>
                </a:ext>
              </a:extLst>
            </p:cNvPr>
            <p:cNvSpPr/>
            <p:nvPr/>
          </p:nvSpPr>
          <p:spPr>
            <a:xfrm>
              <a:off x="9994853" y="2682320"/>
              <a:ext cx="583546" cy="500170"/>
            </a:xfrm>
            <a:custGeom>
              <a:avLst/>
              <a:gdLst/>
              <a:ahLst/>
              <a:cxnLst/>
              <a:rect l="l" t="t" r="r" b="b"/>
              <a:pathLst>
                <a:path w="927" h="795" extrusionOk="0">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spcFirstLastPara="1" wrap="square" lIns="51431" tIns="25706" rIns="51431" bIns="25706" anchor="t" anchorCtr="0">
              <a:noAutofit/>
            </a:bodyPr>
            <a:lstStyle/>
            <a:p>
              <a:pPr>
                <a:buClr>
                  <a:schemeClr val="dk1"/>
                </a:buClr>
                <a:buSzPts val="1400"/>
              </a:pPr>
              <a:endParaRPr sz="1050">
                <a:solidFill>
                  <a:schemeClr val="dk1"/>
                </a:solidFill>
                <a:latin typeface="Calibri"/>
                <a:ea typeface="Calibri"/>
                <a:cs typeface="Calibri"/>
                <a:sym typeface="Calibri"/>
              </a:endParaRPr>
            </a:p>
          </p:txBody>
        </p:sp>
      </p:grpSp>
      <p:sp>
        <p:nvSpPr>
          <p:cNvPr id="24" name="Arc 23">
            <a:extLst>
              <a:ext uri="{FF2B5EF4-FFF2-40B4-BE49-F238E27FC236}">
                <a16:creationId xmlns:a16="http://schemas.microsoft.com/office/drawing/2014/main" id="{A0821841-4191-3F30-AF76-9807A66C3F00}"/>
              </a:ext>
            </a:extLst>
          </p:cNvPr>
          <p:cNvSpPr/>
          <p:nvPr/>
        </p:nvSpPr>
        <p:spPr>
          <a:xfrm rot="773170">
            <a:off x="-348393" y="1573549"/>
            <a:ext cx="1282464" cy="613492"/>
          </a:xfrm>
          <a:prstGeom prst="arc">
            <a:avLst>
              <a:gd name="adj1" fmla="val 16200000"/>
              <a:gd name="adj2" fmla="val 2009810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a:extLst>
              <a:ext uri="{FF2B5EF4-FFF2-40B4-BE49-F238E27FC236}">
                <a16:creationId xmlns:a16="http://schemas.microsoft.com/office/drawing/2014/main" id="{934F7B08-0EFC-D7E3-AD40-C2C215F4B150}"/>
              </a:ext>
            </a:extLst>
          </p:cNvPr>
          <p:cNvSpPr/>
          <p:nvPr/>
        </p:nvSpPr>
        <p:spPr>
          <a:xfrm rot="3187472">
            <a:off x="-715923" y="1774190"/>
            <a:ext cx="2458103" cy="1433940"/>
          </a:xfrm>
          <a:prstGeom prst="arc">
            <a:avLst>
              <a:gd name="adj1" fmla="val 15625492"/>
              <a:gd name="adj2" fmla="val 1935232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7FD8F2D8-F53A-F6D1-651E-E42C23AD165D}"/>
              </a:ext>
            </a:extLst>
          </p:cNvPr>
          <p:cNvSpPr/>
          <p:nvPr/>
        </p:nvSpPr>
        <p:spPr>
          <a:xfrm rot="4532470">
            <a:off x="-213855" y="2522830"/>
            <a:ext cx="2487433" cy="871966"/>
          </a:xfrm>
          <a:prstGeom prst="arc">
            <a:avLst>
              <a:gd name="adj1" fmla="val 16884427"/>
              <a:gd name="adj2" fmla="val 2084347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Arc 27">
            <a:extLst>
              <a:ext uri="{FF2B5EF4-FFF2-40B4-BE49-F238E27FC236}">
                <a16:creationId xmlns:a16="http://schemas.microsoft.com/office/drawing/2014/main" id="{CC58BFB4-054B-06BB-5110-31A76251DF96}"/>
              </a:ext>
            </a:extLst>
          </p:cNvPr>
          <p:cNvSpPr/>
          <p:nvPr/>
        </p:nvSpPr>
        <p:spPr>
          <a:xfrm rot="6166114">
            <a:off x="-187213" y="3694251"/>
            <a:ext cx="2487433" cy="871966"/>
          </a:xfrm>
          <a:prstGeom prst="arc">
            <a:avLst>
              <a:gd name="adj1" fmla="val 15239423"/>
              <a:gd name="adj2" fmla="val 2041989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Arc 28">
            <a:extLst>
              <a:ext uri="{FF2B5EF4-FFF2-40B4-BE49-F238E27FC236}">
                <a16:creationId xmlns:a16="http://schemas.microsoft.com/office/drawing/2014/main" id="{B2D30CB7-EDB2-1EA0-D7F7-1B0B48703140}"/>
              </a:ext>
            </a:extLst>
          </p:cNvPr>
          <p:cNvSpPr/>
          <p:nvPr/>
        </p:nvSpPr>
        <p:spPr>
          <a:xfrm rot="7661539">
            <a:off x="-632318" y="4621563"/>
            <a:ext cx="2487433" cy="871966"/>
          </a:xfrm>
          <a:prstGeom prst="arc">
            <a:avLst>
              <a:gd name="adj1" fmla="val 15239423"/>
              <a:gd name="adj2" fmla="val 204781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ectangle 32">
            <a:extLst>
              <a:ext uri="{FF2B5EF4-FFF2-40B4-BE49-F238E27FC236}">
                <a16:creationId xmlns:a16="http://schemas.microsoft.com/office/drawing/2014/main" id="{22F46029-E5AF-2CD9-9B9E-864D5D6ECAAE}"/>
              </a:ext>
            </a:extLst>
          </p:cNvPr>
          <p:cNvSpPr/>
          <p:nvPr/>
        </p:nvSpPr>
        <p:spPr>
          <a:xfrm>
            <a:off x="2004690" y="1634487"/>
            <a:ext cx="886781" cy="861774"/>
          </a:xfrm>
          <a:prstGeom prst="rect">
            <a:avLst/>
          </a:prstGeom>
          <a:noFill/>
        </p:spPr>
        <p:txBody>
          <a:bodyPr wrap="square" lIns="91440" tIns="45720" rIns="91440" bIns="45720">
            <a:spAutoFit/>
          </a:bodyPr>
          <a:lstStyle/>
          <a:p>
            <a:pPr algn="ctr"/>
            <a:r>
              <a:rPr lang="en-US" sz="5000" b="1" cap="none" spc="0" dirty="0">
                <a:ln w="6600">
                  <a:solidFill>
                    <a:schemeClr val="accent2"/>
                  </a:solidFill>
                  <a:prstDash val="solid"/>
                </a:ln>
                <a:solidFill>
                  <a:srgbClr val="FFFFFF"/>
                </a:solidFill>
                <a:effectLst>
                  <a:outerShdw blurRad="50800" dist="38100" dir="18900000" algn="bl" rotWithShape="0">
                    <a:prstClr val="black">
                      <a:alpha val="40000"/>
                    </a:prstClr>
                  </a:outerShdw>
                </a:effectLst>
              </a:rPr>
              <a:t>01</a:t>
            </a:r>
          </a:p>
        </p:txBody>
      </p:sp>
      <p:sp>
        <p:nvSpPr>
          <p:cNvPr id="34" name="Rectangle 33">
            <a:extLst>
              <a:ext uri="{FF2B5EF4-FFF2-40B4-BE49-F238E27FC236}">
                <a16:creationId xmlns:a16="http://schemas.microsoft.com/office/drawing/2014/main" id="{CD577F60-EEF9-C2DC-1DD3-DC670F8E14C7}"/>
              </a:ext>
            </a:extLst>
          </p:cNvPr>
          <p:cNvSpPr/>
          <p:nvPr/>
        </p:nvSpPr>
        <p:spPr>
          <a:xfrm>
            <a:off x="2519813" y="2656613"/>
            <a:ext cx="886781" cy="861774"/>
          </a:xfrm>
          <a:prstGeom prst="rect">
            <a:avLst/>
          </a:prstGeom>
          <a:noFill/>
        </p:spPr>
        <p:txBody>
          <a:bodyPr wrap="square" lIns="91440" tIns="45720" rIns="91440" bIns="45720">
            <a:spAutoFit/>
          </a:bodyPr>
          <a:lstStyle/>
          <a:p>
            <a:pPr algn="ctr"/>
            <a:r>
              <a:rPr lang="en-US" sz="5000" b="1" dirty="0">
                <a:ln w="6600">
                  <a:solidFill>
                    <a:schemeClr val="accent2"/>
                  </a:solidFill>
                  <a:prstDash val="solid"/>
                </a:ln>
                <a:solidFill>
                  <a:srgbClr val="FFFFFF"/>
                </a:solidFill>
                <a:effectLst>
                  <a:outerShdw blurRad="50800" dist="38100" dir="18900000" algn="bl" rotWithShape="0">
                    <a:prstClr val="black">
                      <a:alpha val="40000"/>
                    </a:prstClr>
                  </a:outerShdw>
                </a:effectLst>
              </a:rPr>
              <a:t>02</a:t>
            </a:r>
            <a:endParaRPr lang="en-US" sz="5000" b="1" cap="none" spc="0" dirty="0">
              <a:ln w="6600">
                <a:solidFill>
                  <a:schemeClr val="accent2"/>
                </a:solidFill>
                <a:prstDash val="solid"/>
              </a:ln>
              <a:solidFill>
                <a:srgbClr val="FFFFFF"/>
              </a:solidFill>
              <a:effectLst>
                <a:outerShdw blurRad="50800" dist="38100" dir="18900000" algn="bl" rotWithShape="0">
                  <a:prstClr val="black">
                    <a:alpha val="40000"/>
                  </a:prstClr>
                </a:outerShdw>
              </a:effectLst>
            </a:endParaRPr>
          </a:p>
        </p:txBody>
      </p:sp>
      <p:sp>
        <p:nvSpPr>
          <p:cNvPr id="35" name="Rectangle 34">
            <a:extLst>
              <a:ext uri="{FF2B5EF4-FFF2-40B4-BE49-F238E27FC236}">
                <a16:creationId xmlns:a16="http://schemas.microsoft.com/office/drawing/2014/main" id="{32F4885D-762B-02EB-DF00-6AC5DEDEE1E4}"/>
              </a:ext>
            </a:extLst>
          </p:cNvPr>
          <p:cNvSpPr/>
          <p:nvPr/>
        </p:nvSpPr>
        <p:spPr>
          <a:xfrm>
            <a:off x="2210884" y="3841109"/>
            <a:ext cx="886781" cy="861774"/>
          </a:xfrm>
          <a:prstGeom prst="rect">
            <a:avLst/>
          </a:prstGeom>
          <a:noFill/>
        </p:spPr>
        <p:txBody>
          <a:bodyPr wrap="square" lIns="91440" tIns="45720" rIns="91440" bIns="45720">
            <a:spAutoFit/>
          </a:bodyPr>
          <a:lstStyle/>
          <a:p>
            <a:pPr algn="ctr"/>
            <a:r>
              <a:rPr lang="en-US" sz="5000" b="1" cap="none" spc="0" dirty="0">
                <a:ln w="6600">
                  <a:solidFill>
                    <a:schemeClr val="accent2"/>
                  </a:solidFill>
                  <a:prstDash val="solid"/>
                </a:ln>
                <a:solidFill>
                  <a:srgbClr val="FFFFFF"/>
                </a:solidFill>
                <a:effectLst>
                  <a:outerShdw blurRad="50800" dist="38100" dir="18900000" algn="bl" rotWithShape="0">
                    <a:prstClr val="black">
                      <a:alpha val="40000"/>
                    </a:prstClr>
                  </a:outerShdw>
                </a:effectLst>
              </a:rPr>
              <a:t>03</a:t>
            </a:r>
          </a:p>
        </p:txBody>
      </p:sp>
      <p:sp>
        <p:nvSpPr>
          <p:cNvPr id="36" name="Rectangle 35">
            <a:extLst>
              <a:ext uri="{FF2B5EF4-FFF2-40B4-BE49-F238E27FC236}">
                <a16:creationId xmlns:a16="http://schemas.microsoft.com/office/drawing/2014/main" id="{6A052BD0-AD87-2560-1FBA-954657975528}"/>
              </a:ext>
            </a:extLst>
          </p:cNvPr>
          <p:cNvSpPr/>
          <p:nvPr/>
        </p:nvSpPr>
        <p:spPr>
          <a:xfrm>
            <a:off x="1716829" y="4883071"/>
            <a:ext cx="886781" cy="861774"/>
          </a:xfrm>
          <a:prstGeom prst="rect">
            <a:avLst/>
          </a:prstGeom>
          <a:noFill/>
        </p:spPr>
        <p:txBody>
          <a:bodyPr wrap="square" lIns="91440" tIns="45720" rIns="91440" bIns="45720">
            <a:spAutoFit/>
          </a:bodyPr>
          <a:lstStyle/>
          <a:p>
            <a:pPr algn="ctr"/>
            <a:r>
              <a:rPr lang="en-US" sz="5000" b="1" cap="none" spc="0" dirty="0">
                <a:ln w="6600">
                  <a:solidFill>
                    <a:schemeClr val="accent2"/>
                  </a:solidFill>
                  <a:prstDash val="solid"/>
                </a:ln>
                <a:solidFill>
                  <a:srgbClr val="FFFFFF"/>
                </a:solidFill>
                <a:effectLst>
                  <a:outerShdw blurRad="50800" dist="38100" dir="18900000" algn="bl" rotWithShape="0">
                    <a:prstClr val="black">
                      <a:alpha val="40000"/>
                    </a:prstClr>
                  </a:outerShdw>
                </a:effectLst>
              </a:rPr>
              <a:t>04</a:t>
            </a:r>
          </a:p>
        </p:txBody>
      </p:sp>
      <p:sp>
        <p:nvSpPr>
          <p:cNvPr id="37" name="Rectangle 36">
            <a:extLst>
              <a:ext uri="{FF2B5EF4-FFF2-40B4-BE49-F238E27FC236}">
                <a16:creationId xmlns:a16="http://schemas.microsoft.com/office/drawing/2014/main" id="{2FC4A893-9362-6886-4E41-740BD0D407A9}"/>
              </a:ext>
            </a:extLst>
          </p:cNvPr>
          <p:cNvSpPr/>
          <p:nvPr/>
        </p:nvSpPr>
        <p:spPr>
          <a:xfrm>
            <a:off x="3293304" y="1710248"/>
            <a:ext cx="3026791" cy="553998"/>
          </a:xfrm>
          <a:prstGeom prst="rect">
            <a:avLst/>
          </a:prstGeom>
          <a:noFill/>
          <a:ln>
            <a:noFill/>
          </a:ln>
        </p:spPr>
        <p:txBody>
          <a:bodyPr wrap="none" lIns="91440" tIns="45720" rIns="91440" bIns="45720">
            <a:spAutoFit/>
          </a:bodyPr>
          <a:lstStyle/>
          <a:p>
            <a:r>
              <a:rPr lang="en-US" sz="3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Lý do </a:t>
            </a:r>
            <a:r>
              <a:rPr lang="en-US" sz="3000" b="1" dirty="0" err="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chọn</a:t>
            </a:r>
            <a:r>
              <a:rPr lang="en-US" sz="3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3000" b="1" dirty="0" err="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đề</a:t>
            </a:r>
            <a:r>
              <a:rPr lang="en-US" sz="3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3000" b="1" dirty="0" err="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tài</a:t>
            </a:r>
            <a:endParaRPr lang="en-US" sz="3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AE5934C4-D256-85A2-47A5-09BDE93F2E81}"/>
              </a:ext>
            </a:extLst>
          </p:cNvPr>
          <p:cNvSpPr/>
          <p:nvPr/>
        </p:nvSpPr>
        <p:spPr>
          <a:xfrm>
            <a:off x="2891471" y="5057546"/>
            <a:ext cx="5019323" cy="553998"/>
          </a:xfrm>
          <a:prstGeom prst="rect">
            <a:avLst/>
          </a:prstGeom>
          <a:noFill/>
          <a:ln>
            <a:noFill/>
          </a:ln>
        </p:spPr>
        <p:txBody>
          <a:bodyPr wrap="none" lIns="91440" tIns="45720" rIns="91440" bIns="45720">
            <a:spAutoFit/>
          </a:bodyPr>
          <a:lstStyle/>
          <a:p>
            <a:r>
              <a:rPr lang="en-US" sz="3000" b="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Xác thực đăng nhập QR code</a:t>
            </a:r>
            <a:endParaRPr lang="en-US" sz="3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4C4FC28C-37C2-8BCA-1D74-B07E47EB8C41}"/>
              </a:ext>
            </a:extLst>
          </p:cNvPr>
          <p:cNvSpPr/>
          <p:nvPr/>
        </p:nvSpPr>
        <p:spPr>
          <a:xfrm>
            <a:off x="3609018" y="2578928"/>
            <a:ext cx="7972015" cy="1015663"/>
          </a:xfrm>
          <a:prstGeom prst="rect">
            <a:avLst/>
          </a:prstGeom>
          <a:noFill/>
          <a:ln>
            <a:noFill/>
          </a:ln>
        </p:spPr>
        <p:txBody>
          <a:bodyPr wrap="square" lIns="91440" tIns="45720" rIns="91440" bIns="45720">
            <a:spAutoFit/>
          </a:bodyPr>
          <a:lstStyle/>
          <a:p>
            <a:r>
              <a:rPr lang="en-US" sz="3000" b="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Hệ thống chấm công – thanh toán chấm công Smart Contract</a:t>
            </a:r>
            <a:endParaRPr lang="en-US" sz="3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714B27F8-13DB-4BB7-8C49-D14770258E60}"/>
              </a:ext>
            </a:extLst>
          </p:cNvPr>
          <p:cNvSpPr/>
          <p:nvPr/>
        </p:nvSpPr>
        <p:spPr>
          <a:xfrm>
            <a:off x="3293304" y="3844561"/>
            <a:ext cx="7972015" cy="1015663"/>
          </a:xfrm>
          <a:prstGeom prst="rect">
            <a:avLst/>
          </a:prstGeom>
          <a:noFill/>
          <a:ln>
            <a:noFill/>
          </a:ln>
        </p:spPr>
        <p:txBody>
          <a:bodyPr wrap="square" lIns="91440" tIns="45720" rIns="91440" bIns="45720">
            <a:spAutoFit/>
          </a:bodyPr>
          <a:lstStyle/>
          <a:p>
            <a:r>
              <a:rPr lang="en-US" sz="3000" b="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Hệ thống chấm KPI – thưởng công việc theo Smart Contract</a:t>
            </a:r>
            <a:endParaRPr lang="en-US" sz="3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761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B754E-070B-3ED3-AA82-85B762C7BA3F}"/>
              </a:ext>
            </a:extLst>
          </p:cNvPr>
          <p:cNvSpPr>
            <a:spLocks noGrp="1"/>
          </p:cNvSpPr>
          <p:nvPr>
            <p:ph type="title"/>
          </p:nvPr>
        </p:nvSpPr>
        <p:spPr>
          <a:xfrm>
            <a:off x="477949" y="2887040"/>
            <a:ext cx="11236102" cy="1083919"/>
          </a:xfrm>
        </p:spPr>
        <p:txBody>
          <a:bodyPr/>
          <a:lstStyle/>
          <a:p>
            <a:pPr algn="ctr"/>
            <a:r>
              <a:rPr lang="en-US" b="1" i="0" dirty="0">
                <a:effectLst/>
              </a:rPr>
              <a:t>1. LÝ DO CHỌN ĐỀ TÀI</a:t>
            </a:r>
            <a:endParaRPr lang="en-US" b="1" dirty="0"/>
          </a:p>
        </p:txBody>
      </p:sp>
      <p:sp>
        <p:nvSpPr>
          <p:cNvPr id="4" name="Slide Number Placeholder 3">
            <a:extLst>
              <a:ext uri="{FF2B5EF4-FFF2-40B4-BE49-F238E27FC236}">
                <a16:creationId xmlns:a16="http://schemas.microsoft.com/office/drawing/2014/main" id="{C4425AB8-15FE-8E64-DE7A-FB52AF6451D2}"/>
              </a:ext>
            </a:extLst>
          </p:cNvPr>
          <p:cNvSpPr>
            <a:spLocks noGrp="1"/>
          </p:cNvSpPr>
          <p:nvPr>
            <p:ph type="sldNum" sz="quarter" idx="12"/>
          </p:nvPr>
        </p:nvSpPr>
        <p:spPr/>
        <p:txBody>
          <a:bodyPr/>
          <a:lstStyle/>
          <a:p>
            <a:fld id="{D379440A-2DED-3643-ADED-9B5C83E7D828}" type="slidenum">
              <a:rPr lang="en-VN" smtClean="0"/>
              <a:pPr/>
              <a:t>3</a:t>
            </a:fld>
            <a:endParaRPr lang="en-VN"/>
          </a:p>
        </p:txBody>
      </p:sp>
    </p:spTree>
    <p:extLst>
      <p:ext uri="{BB962C8B-B14F-4D97-AF65-F5344CB8AC3E}">
        <p14:creationId xmlns:p14="http://schemas.microsoft.com/office/powerpoint/2010/main" val="3093314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B754E-070B-3ED3-AA82-85B762C7BA3F}"/>
              </a:ext>
            </a:extLst>
          </p:cNvPr>
          <p:cNvSpPr>
            <a:spLocks noGrp="1"/>
          </p:cNvSpPr>
          <p:nvPr>
            <p:ph type="title"/>
          </p:nvPr>
        </p:nvSpPr>
        <p:spPr/>
        <p:txBody>
          <a:bodyPr/>
          <a:lstStyle/>
          <a:p>
            <a:r>
              <a:rPr lang="en-US" dirty="0"/>
              <a:t>LÝ DO CHỌN ĐỀ TÀI</a:t>
            </a:r>
          </a:p>
        </p:txBody>
      </p:sp>
      <p:sp>
        <p:nvSpPr>
          <p:cNvPr id="4" name="Slide Number Placeholder 3">
            <a:extLst>
              <a:ext uri="{FF2B5EF4-FFF2-40B4-BE49-F238E27FC236}">
                <a16:creationId xmlns:a16="http://schemas.microsoft.com/office/drawing/2014/main" id="{C4425AB8-15FE-8E64-DE7A-FB52AF6451D2}"/>
              </a:ext>
            </a:extLst>
          </p:cNvPr>
          <p:cNvSpPr>
            <a:spLocks noGrp="1"/>
          </p:cNvSpPr>
          <p:nvPr>
            <p:ph type="sldNum" sz="quarter" idx="12"/>
          </p:nvPr>
        </p:nvSpPr>
        <p:spPr/>
        <p:txBody>
          <a:bodyPr/>
          <a:lstStyle/>
          <a:p>
            <a:fld id="{D379440A-2DED-3643-ADED-9B5C83E7D828}" type="slidenum">
              <a:rPr lang="en-VN" smtClean="0"/>
              <a:pPr/>
              <a:t>4</a:t>
            </a:fld>
            <a:endParaRPr lang="en-VN"/>
          </a:p>
        </p:txBody>
      </p:sp>
      <p:sp>
        <p:nvSpPr>
          <p:cNvPr id="8" name="TextBox 7">
            <a:extLst>
              <a:ext uri="{FF2B5EF4-FFF2-40B4-BE49-F238E27FC236}">
                <a16:creationId xmlns:a16="http://schemas.microsoft.com/office/drawing/2014/main" id="{FEA9463D-99F5-2809-095A-AD12BCAC071C}"/>
              </a:ext>
            </a:extLst>
          </p:cNvPr>
          <p:cNvSpPr txBox="1"/>
          <p:nvPr/>
        </p:nvSpPr>
        <p:spPr>
          <a:xfrm>
            <a:off x="518780" y="1294537"/>
            <a:ext cx="11062253" cy="4993931"/>
          </a:xfrm>
          <a:prstGeom prst="rect">
            <a:avLst/>
          </a:prstGeom>
          <a:noFill/>
        </p:spPr>
        <p:txBody>
          <a:bodyPr wrap="square">
            <a:spAutoFit/>
          </a:bodyPr>
          <a:lstStyle/>
          <a:p>
            <a:pPr indent="519113" algn="just">
              <a:lnSpc>
                <a:spcPct val="200000"/>
              </a:lnSpc>
            </a:pPr>
            <a:r>
              <a:rPr lang="vi-VN">
                <a:latin typeface="+mj-lt"/>
              </a:rPr>
              <a:t>Trong bối cảnh chuyển đổi số diễn ra mạnh mẽ, quản trị nguồn nhân lực đang dịch chuyển từ lưu trữ hồ sơ truyền thống sang tự động hóa và tối ưu dựa trên dữ liệu. Tuy nhiên, các hệ thống quản lý nhân sự Web2 còn nhiều hạn chế như dữ liệu tập trung dễ bị can thiệp, đánh giá KPI thiếu khách quan, thiếu minh bạch trong chi trả lương thưởng và nguy cơ rò rỉ thông tin cá nhân.</a:t>
            </a:r>
          </a:p>
          <a:p>
            <a:pPr indent="519113" algn="just">
              <a:lnSpc>
                <a:spcPct val="200000"/>
              </a:lnSpc>
            </a:pPr>
            <a:r>
              <a:rPr lang="vi-VN">
                <a:latin typeface="+mj-lt"/>
              </a:rPr>
              <a:t>Sự kết hợp giữa công nghệ Web3 (Blockchain) với tính bất biến, phi tập trung và Trí tuệ nhân tạo (AI) với khả năng phân tích dữ liệu thông minh đã mở ra mô hình “Trustless HR”, trong đó niềm tin được đảm bảo bằng thuật toán. Xuất phát từ tiềm năng và tính ứng dụng thực tiễn này, đề tài </a:t>
            </a:r>
            <a:r>
              <a:rPr lang="vi-VN" b="1">
                <a:latin typeface="+mj-lt"/>
              </a:rPr>
              <a:t>“Thiết kế hệ thống Web3 chuyển đổi số quản lý nhân sự”</a:t>
            </a:r>
            <a:r>
              <a:rPr lang="vi-VN">
                <a:latin typeface="+mj-lt"/>
              </a:rPr>
              <a:t> được lựa chọn nhằm đề xuất một kiến trúc công nghệ lai, hướng tới nâng cao tính minh bạch, an toàn và hiệu quả trong quản trị nhân sự của doanh nghiệp hiện đại.</a:t>
            </a:r>
          </a:p>
        </p:txBody>
      </p:sp>
    </p:spTree>
    <p:extLst>
      <p:ext uri="{BB962C8B-B14F-4D97-AF65-F5344CB8AC3E}">
        <p14:creationId xmlns:p14="http://schemas.microsoft.com/office/powerpoint/2010/main" val="2284964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C1286-4D51-9409-56AB-60E2311FB8FE}"/>
              </a:ext>
            </a:extLst>
          </p:cNvPr>
          <p:cNvSpPr>
            <a:spLocks noGrp="1"/>
          </p:cNvSpPr>
          <p:nvPr>
            <p:ph type="title"/>
          </p:nvPr>
        </p:nvSpPr>
        <p:spPr/>
        <p:txBody>
          <a:bodyPr/>
          <a:lstStyle/>
          <a:p>
            <a:r>
              <a:rPr lang="en-US"/>
              <a:t>CÔNG NGHỆ SỬ DỤNG</a:t>
            </a:r>
          </a:p>
        </p:txBody>
      </p:sp>
      <p:sp>
        <p:nvSpPr>
          <p:cNvPr id="4" name="Slide Number Placeholder 3">
            <a:extLst>
              <a:ext uri="{FF2B5EF4-FFF2-40B4-BE49-F238E27FC236}">
                <a16:creationId xmlns:a16="http://schemas.microsoft.com/office/drawing/2014/main" id="{0BEBE899-51EB-836B-9457-DF7AF12036EC}"/>
              </a:ext>
            </a:extLst>
          </p:cNvPr>
          <p:cNvSpPr>
            <a:spLocks noGrp="1"/>
          </p:cNvSpPr>
          <p:nvPr>
            <p:ph type="sldNum" sz="quarter" idx="12"/>
          </p:nvPr>
        </p:nvSpPr>
        <p:spPr/>
        <p:txBody>
          <a:bodyPr/>
          <a:lstStyle/>
          <a:p>
            <a:fld id="{D379440A-2DED-3643-ADED-9B5C83E7D828}" type="slidenum">
              <a:rPr lang="en-VN" smtClean="0"/>
              <a:pPr/>
              <a:t>5</a:t>
            </a:fld>
            <a:endParaRPr lang="en-VN"/>
          </a:p>
        </p:txBody>
      </p:sp>
      <p:pic>
        <p:nvPicPr>
          <p:cNvPr id="1028" name="Picture 4" descr="Why Choose MERN? Building Awesome Websites Made Easy!">
            <a:extLst>
              <a:ext uri="{FF2B5EF4-FFF2-40B4-BE49-F238E27FC236}">
                <a16:creationId xmlns:a16="http://schemas.microsoft.com/office/drawing/2014/main" id="{9B52C2C8-9C60-EC66-6D9C-CEE7360C85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7422" y="854022"/>
            <a:ext cx="9697155" cy="545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0487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05234-1358-F729-6A5C-C103757BE5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4B27F3-BBEB-3A5D-9FB3-49355A30FB6D}"/>
              </a:ext>
            </a:extLst>
          </p:cNvPr>
          <p:cNvSpPr>
            <a:spLocks noGrp="1"/>
          </p:cNvSpPr>
          <p:nvPr>
            <p:ph type="title"/>
          </p:nvPr>
        </p:nvSpPr>
        <p:spPr/>
        <p:txBody>
          <a:bodyPr/>
          <a:lstStyle/>
          <a:p>
            <a:pPr algn="ctr"/>
            <a:r>
              <a:rPr lang="en-US" sz="3000" b="1" dirty="0">
                <a:solidFill>
                  <a:srgbClr val="FFDD17"/>
                </a:solidFill>
                <a:latin typeface="Times New Roman" panose="02020603050405020304" pitchFamily="18" charset="0"/>
                <a:cs typeface="Times New Roman" panose="02020603050405020304" pitchFamily="18" charset="0"/>
              </a:rPr>
              <a:t>THIẾT KẾ CSDL</a:t>
            </a:r>
          </a:p>
        </p:txBody>
      </p:sp>
      <p:sp>
        <p:nvSpPr>
          <p:cNvPr id="3" name="Slide Number Placeholder 2">
            <a:extLst>
              <a:ext uri="{FF2B5EF4-FFF2-40B4-BE49-F238E27FC236}">
                <a16:creationId xmlns:a16="http://schemas.microsoft.com/office/drawing/2014/main" id="{D0938592-81B9-FB97-1212-BA8C10BE8B7A}"/>
              </a:ext>
            </a:extLst>
          </p:cNvPr>
          <p:cNvSpPr>
            <a:spLocks noGrp="1"/>
          </p:cNvSpPr>
          <p:nvPr>
            <p:ph type="sldNum" sz="quarter" idx="12"/>
          </p:nvPr>
        </p:nvSpPr>
        <p:spPr/>
        <p:txBody>
          <a:bodyPr/>
          <a:lstStyle/>
          <a:p>
            <a:fld id="{D379440A-2DED-3643-ADED-9B5C83E7D828}" type="slidenum">
              <a:rPr lang="en-VN" sz="1500" b="1" smtClean="0"/>
              <a:pPr/>
              <a:t>6</a:t>
            </a:fld>
            <a:endParaRPr lang="en-VN" sz="1500" b="1"/>
          </a:p>
        </p:txBody>
      </p:sp>
      <p:pic>
        <p:nvPicPr>
          <p:cNvPr id="5" name="Picture 4">
            <a:extLst>
              <a:ext uri="{FF2B5EF4-FFF2-40B4-BE49-F238E27FC236}">
                <a16:creationId xmlns:a16="http://schemas.microsoft.com/office/drawing/2014/main" id="{2FC0A5CB-232C-AD85-5EA7-987A6CE7552D}"/>
              </a:ext>
            </a:extLst>
          </p:cNvPr>
          <p:cNvPicPr>
            <a:picLocks noChangeAspect="1"/>
          </p:cNvPicPr>
          <p:nvPr/>
        </p:nvPicPr>
        <p:blipFill>
          <a:blip r:embed="rId2"/>
          <a:stretch>
            <a:fillRect/>
          </a:stretch>
        </p:blipFill>
        <p:spPr>
          <a:xfrm>
            <a:off x="0" y="704917"/>
            <a:ext cx="5354365" cy="6153083"/>
          </a:xfrm>
          <a:prstGeom prst="rect">
            <a:avLst/>
          </a:prstGeom>
        </p:spPr>
      </p:pic>
      <p:pic>
        <p:nvPicPr>
          <p:cNvPr id="8" name="Picture 7">
            <a:extLst>
              <a:ext uri="{FF2B5EF4-FFF2-40B4-BE49-F238E27FC236}">
                <a16:creationId xmlns:a16="http://schemas.microsoft.com/office/drawing/2014/main" id="{FD7B6E4C-5CB9-644E-0024-29223E304173}"/>
              </a:ext>
            </a:extLst>
          </p:cNvPr>
          <p:cNvPicPr>
            <a:picLocks noChangeAspect="1"/>
          </p:cNvPicPr>
          <p:nvPr/>
        </p:nvPicPr>
        <p:blipFill>
          <a:blip r:embed="rId3"/>
          <a:stretch>
            <a:fillRect/>
          </a:stretch>
        </p:blipFill>
        <p:spPr>
          <a:xfrm>
            <a:off x="5372283" y="704916"/>
            <a:ext cx="4900854" cy="4324283"/>
          </a:xfrm>
          <a:prstGeom prst="rect">
            <a:avLst/>
          </a:prstGeom>
        </p:spPr>
      </p:pic>
    </p:spTree>
    <p:extLst>
      <p:ext uri="{BB962C8B-B14F-4D97-AF65-F5344CB8AC3E}">
        <p14:creationId xmlns:p14="http://schemas.microsoft.com/office/powerpoint/2010/main" val="322404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D327-5653-1C39-82E2-064E73375AF1}"/>
              </a:ext>
            </a:extLst>
          </p:cNvPr>
          <p:cNvSpPr>
            <a:spLocks noGrp="1"/>
          </p:cNvSpPr>
          <p:nvPr>
            <p:ph type="title"/>
          </p:nvPr>
        </p:nvSpPr>
        <p:spPr/>
        <p:txBody>
          <a:bodyPr/>
          <a:lstStyle/>
          <a:p>
            <a:r>
              <a:rPr lang="en-US"/>
              <a:t>Smart Contract</a:t>
            </a:r>
          </a:p>
        </p:txBody>
      </p:sp>
      <p:sp>
        <p:nvSpPr>
          <p:cNvPr id="3" name="Content Placeholder 2">
            <a:extLst>
              <a:ext uri="{FF2B5EF4-FFF2-40B4-BE49-F238E27FC236}">
                <a16:creationId xmlns:a16="http://schemas.microsoft.com/office/drawing/2014/main" id="{FC7A443F-7E42-DEBD-061A-7E9895DD0875}"/>
              </a:ext>
            </a:extLst>
          </p:cNvPr>
          <p:cNvSpPr>
            <a:spLocks noGrp="1"/>
          </p:cNvSpPr>
          <p:nvPr>
            <p:ph idx="1"/>
          </p:nvPr>
        </p:nvSpPr>
        <p:spPr>
          <a:xfrm>
            <a:off x="621789" y="1525091"/>
            <a:ext cx="11212022" cy="3950918"/>
          </a:xfrm>
        </p:spPr>
        <p:txBody>
          <a:bodyPr/>
          <a:lstStyle/>
          <a:p>
            <a:pPr algn="just"/>
            <a:r>
              <a:rPr lang="vi-VN"/>
              <a:t>Smart Contract (Hợp đồng thông minh) là </a:t>
            </a:r>
            <a:r>
              <a:rPr lang="vi-VN" b="1"/>
              <a:t>chương trình tự động chạy trên Blockchain</a:t>
            </a:r>
            <a:r>
              <a:rPr lang="en-US" b="1"/>
              <a:t>.</a:t>
            </a:r>
            <a:endParaRPr lang="vi-VN"/>
          </a:p>
          <a:p>
            <a:pPr algn="just"/>
            <a:r>
              <a:rPr lang="vi-VN"/>
              <a:t>Thực thi điều khoản </a:t>
            </a:r>
            <a:r>
              <a:rPr lang="vi-VN" b="1"/>
              <a:t>không cần bên trung gian</a:t>
            </a:r>
            <a:r>
              <a:rPr lang="en-US" b="1"/>
              <a:t>.</a:t>
            </a:r>
            <a:endParaRPr lang="vi-VN"/>
          </a:p>
          <a:p>
            <a:pPr algn="just"/>
            <a:r>
              <a:rPr lang="vi-VN"/>
              <a:t>Hoạt động theo nguyên tắc: </a:t>
            </a:r>
            <a:r>
              <a:rPr lang="vi-VN" i="1"/>
              <a:t>Điều kiện đúng → Tự động thực hiện</a:t>
            </a:r>
            <a:r>
              <a:rPr lang="en-US" i="1"/>
              <a:t>.</a:t>
            </a:r>
            <a:endParaRPr lang="vi-VN"/>
          </a:p>
          <a:p>
            <a:pPr algn="just"/>
            <a:r>
              <a:rPr lang="vi-VN"/>
              <a:t>Tự động: Không cần can thiệp thủ công</a:t>
            </a:r>
            <a:r>
              <a:rPr lang="en-US"/>
              <a:t>.</a:t>
            </a:r>
            <a:endParaRPr lang="vi-VN"/>
          </a:p>
          <a:p>
            <a:pPr algn="just"/>
            <a:r>
              <a:rPr lang="vi-VN"/>
              <a:t>Bất biến: Không thể sửa đổi sau khi triển khai</a:t>
            </a:r>
            <a:r>
              <a:rPr lang="en-US"/>
              <a:t>.</a:t>
            </a:r>
            <a:endParaRPr lang="vi-VN"/>
          </a:p>
          <a:p>
            <a:pPr algn="just"/>
            <a:r>
              <a:rPr lang="vi-VN"/>
              <a:t>Minh bạch: Mã nguồn &amp; giao dịch có thể kiểm tra</a:t>
            </a:r>
            <a:r>
              <a:rPr lang="en-US"/>
              <a:t>.</a:t>
            </a:r>
            <a:endParaRPr lang="vi-VN"/>
          </a:p>
          <a:p>
            <a:pPr algn="just"/>
            <a:r>
              <a:rPr lang="vi-VN"/>
              <a:t>An toàn: Được bảo mật bởi Blockchain</a:t>
            </a:r>
            <a:r>
              <a:rPr lang="en-US"/>
              <a:t>.</a:t>
            </a:r>
            <a:endParaRPr lang="vi-VN"/>
          </a:p>
          <a:p>
            <a:endParaRPr lang="en-US"/>
          </a:p>
        </p:txBody>
      </p:sp>
      <p:sp>
        <p:nvSpPr>
          <p:cNvPr id="4" name="Slide Number Placeholder 3">
            <a:extLst>
              <a:ext uri="{FF2B5EF4-FFF2-40B4-BE49-F238E27FC236}">
                <a16:creationId xmlns:a16="http://schemas.microsoft.com/office/drawing/2014/main" id="{09EEA1E0-A6C0-23FC-36EC-62573BCA950D}"/>
              </a:ext>
            </a:extLst>
          </p:cNvPr>
          <p:cNvSpPr>
            <a:spLocks noGrp="1"/>
          </p:cNvSpPr>
          <p:nvPr>
            <p:ph type="sldNum" sz="quarter" idx="12"/>
          </p:nvPr>
        </p:nvSpPr>
        <p:spPr/>
        <p:txBody>
          <a:bodyPr/>
          <a:lstStyle/>
          <a:p>
            <a:fld id="{D379440A-2DED-3643-ADED-9B5C83E7D828}" type="slidenum">
              <a:rPr lang="en-VN" smtClean="0"/>
              <a:pPr/>
              <a:t>7</a:t>
            </a:fld>
            <a:endParaRPr lang="en-VN"/>
          </a:p>
        </p:txBody>
      </p:sp>
    </p:spTree>
    <p:extLst>
      <p:ext uri="{BB962C8B-B14F-4D97-AF65-F5344CB8AC3E}">
        <p14:creationId xmlns:p14="http://schemas.microsoft.com/office/powerpoint/2010/main" val="751011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B754E-070B-3ED3-AA82-85B762C7BA3F}"/>
              </a:ext>
            </a:extLst>
          </p:cNvPr>
          <p:cNvSpPr>
            <a:spLocks noGrp="1"/>
          </p:cNvSpPr>
          <p:nvPr>
            <p:ph type="title"/>
          </p:nvPr>
        </p:nvSpPr>
        <p:spPr>
          <a:xfrm>
            <a:off x="0" y="2482307"/>
            <a:ext cx="12192000" cy="1893386"/>
          </a:xfrm>
        </p:spPr>
        <p:txBody>
          <a:bodyPr/>
          <a:lstStyle/>
          <a:p>
            <a:pPr algn="ctr">
              <a:lnSpc>
                <a:spcPct val="150000"/>
              </a:lnSpc>
            </a:pPr>
            <a:r>
              <a:rPr lang="en-US" sz="4400" b="1" i="0" dirty="0">
                <a:effectLst/>
              </a:rPr>
              <a:t>2. XÂY </a:t>
            </a:r>
            <a:r>
              <a:rPr lang="en-US" sz="4400" b="1" i="0">
                <a:effectLst/>
              </a:rPr>
              <a:t>DỰNG HỆ THỐNG CHẤM CÔNG – THANH TOÁN CHẤM CÔNG TỰ ĐỘNG</a:t>
            </a:r>
            <a:endParaRPr lang="en-US" sz="4800" b="1" dirty="0"/>
          </a:p>
        </p:txBody>
      </p:sp>
      <p:sp>
        <p:nvSpPr>
          <p:cNvPr id="4" name="Slide Number Placeholder 3">
            <a:extLst>
              <a:ext uri="{FF2B5EF4-FFF2-40B4-BE49-F238E27FC236}">
                <a16:creationId xmlns:a16="http://schemas.microsoft.com/office/drawing/2014/main" id="{C4425AB8-15FE-8E64-DE7A-FB52AF6451D2}"/>
              </a:ext>
            </a:extLst>
          </p:cNvPr>
          <p:cNvSpPr>
            <a:spLocks noGrp="1"/>
          </p:cNvSpPr>
          <p:nvPr>
            <p:ph type="sldNum" sz="quarter" idx="12"/>
          </p:nvPr>
        </p:nvSpPr>
        <p:spPr/>
        <p:txBody>
          <a:bodyPr/>
          <a:lstStyle/>
          <a:p>
            <a:fld id="{D379440A-2DED-3643-ADED-9B5C83E7D828}" type="slidenum">
              <a:rPr lang="en-VN" smtClean="0"/>
              <a:pPr/>
              <a:t>8</a:t>
            </a:fld>
            <a:endParaRPr lang="en-VN"/>
          </a:p>
        </p:txBody>
      </p:sp>
    </p:spTree>
    <p:extLst>
      <p:ext uri="{BB962C8B-B14F-4D97-AF65-F5344CB8AC3E}">
        <p14:creationId xmlns:p14="http://schemas.microsoft.com/office/powerpoint/2010/main" val="3398619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7A07-1CF3-4724-77DA-71956AE62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E7E0A-7A82-5AA5-4F1F-F3A9068B0C16}"/>
              </a:ext>
            </a:extLst>
          </p:cNvPr>
          <p:cNvSpPr>
            <a:spLocks noGrp="1"/>
          </p:cNvSpPr>
          <p:nvPr>
            <p:ph type="title"/>
          </p:nvPr>
        </p:nvSpPr>
        <p:spPr/>
        <p:txBody>
          <a:bodyPr/>
          <a:lstStyle/>
          <a:p>
            <a:r>
              <a:rPr lang="en-US" dirty="0"/>
              <a:t>CƠ SỞ LÝ THUYẾT</a:t>
            </a:r>
          </a:p>
        </p:txBody>
      </p:sp>
      <p:sp>
        <p:nvSpPr>
          <p:cNvPr id="4" name="Slide Number Placeholder 3">
            <a:extLst>
              <a:ext uri="{FF2B5EF4-FFF2-40B4-BE49-F238E27FC236}">
                <a16:creationId xmlns:a16="http://schemas.microsoft.com/office/drawing/2014/main" id="{B50EA12F-F014-9083-74AA-B3466F39AFA5}"/>
              </a:ext>
            </a:extLst>
          </p:cNvPr>
          <p:cNvSpPr>
            <a:spLocks noGrp="1"/>
          </p:cNvSpPr>
          <p:nvPr>
            <p:ph type="sldNum" sz="quarter" idx="12"/>
          </p:nvPr>
        </p:nvSpPr>
        <p:spPr/>
        <p:txBody>
          <a:bodyPr/>
          <a:lstStyle/>
          <a:p>
            <a:fld id="{D379440A-2DED-3643-ADED-9B5C83E7D828}" type="slidenum">
              <a:rPr lang="en-VN" smtClean="0"/>
              <a:pPr/>
              <a:t>9</a:t>
            </a:fld>
            <a:endParaRPr lang="en-VN"/>
          </a:p>
        </p:txBody>
      </p:sp>
      <p:sp>
        <p:nvSpPr>
          <p:cNvPr id="6" name="TextBox 5">
            <a:extLst>
              <a:ext uri="{FF2B5EF4-FFF2-40B4-BE49-F238E27FC236}">
                <a16:creationId xmlns:a16="http://schemas.microsoft.com/office/drawing/2014/main" id="{3B9C0C3A-8C23-CC3A-C80A-A857A69DBBCE}"/>
              </a:ext>
            </a:extLst>
          </p:cNvPr>
          <p:cNvSpPr txBox="1"/>
          <p:nvPr/>
        </p:nvSpPr>
        <p:spPr>
          <a:xfrm>
            <a:off x="962439" y="1330220"/>
            <a:ext cx="10267122" cy="4613058"/>
          </a:xfrm>
          <a:prstGeom prst="rect">
            <a:avLst/>
          </a:prstGeom>
          <a:noFill/>
        </p:spPr>
        <p:txBody>
          <a:bodyPr wrap="square">
            <a:spAutoFit/>
          </a:bodyPr>
          <a:lstStyle/>
          <a:p>
            <a:pPr indent="914400" algn="just">
              <a:lnSpc>
                <a:spcPct val="150000"/>
              </a:lnSpc>
            </a:pPr>
            <a:r>
              <a:rPr lang="vi-VN">
                <a:latin typeface="Times New Roman" panose="02020603050405020304" pitchFamily="18" charset="0"/>
                <a:cs typeface="Times New Roman" panose="02020603050405020304" pitchFamily="18" charset="0"/>
              </a:rPr>
              <a:t>Hệ thống chấm công và thanh toán lương tự động được xây dựng dựa trên lý thuyết quản trị thời gian lao động và tự động hóa quy trình nhân sự trong bối cảnh chuyển đổi số. Việc ghi nhận thời gian làm việc thông qua cơ chế </a:t>
            </a:r>
            <a:r>
              <a:rPr lang="vi-VN" b="1">
                <a:solidFill>
                  <a:srgbClr val="FF0000"/>
                </a:solidFill>
                <a:latin typeface="Times New Roman" panose="02020603050405020304" pitchFamily="18" charset="0"/>
                <a:cs typeface="Times New Roman" panose="02020603050405020304" pitchFamily="18" charset="0"/>
              </a:rPr>
              <a:t>check-in/check-out </a:t>
            </a:r>
            <a:r>
              <a:rPr lang="vi-VN">
                <a:latin typeface="Times New Roman" panose="02020603050405020304" pitchFamily="18" charset="0"/>
                <a:cs typeface="Times New Roman" panose="02020603050405020304" pitchFamily="18" charset="0"/>
              </a:rPr>
              <a:t>điện tử giúp đảm bảo tính chính xác, hạn chế gian lận và giảm sự phụ thuộc vào thao tác thủ công. Trên nền tảng đó, lương được tính toán tự động dựa vào số giờ làm việc và các quy tắc đã được xác định trước, bảo đảm tính công bằng và nhất quán trong quản lý nhân sự.</a:t>
            </a:r>
          </a:p>
          <a:p>
            <a:pPr indent="914400" algn="just">
              <a:lnSpc>
                <a:spcPct val="150000"/>
              </a:lnSpc>
            </a:pPr>
            <a:r>
              <a:rPr lang="vi-VN">
                <a:latin typeface="Times New Roman" panose="02020603050405020304" pitchFamily="18" charset="0"/>
                <a:cs typeface="Times New Roman" panose="02020603050405020304" pitchFamily="18" charset="0"/>
              </a:rPr>
              <a:t>Bên cạnh đó, công nghệ </a:t>
            </a:r>
            <a:r>
              <a:rPr lang="vi-VN" b="1">
                <a:solidFill>
                  <a:srgbClr val="FF0000"/>
                </a:solidFill>
                <a:latin typeface="Times New Roman" panose="02020603050405020304" pitchFamily="18" charset="0"/>
                <a:cs typeface="Times New Roman" panose="02020603050405020304" pitchFamily="18" charset="0"/>
              </a:rPr>
              <a:t>Blockchain</a:t>
            </a:r>
            <a:r>
              <a:rPr lang="vi-VN">
                <a:latin typeface="Times New Roman" panose="02020603050405020304" pitchFamily="18" charset="0"/>
                <a:cs typeface="Times New Roman" panose="02020603050405020304" pitchFamily="18" charset="0"/>
              </a:rPr>
              <a:t> và </a:t>
            </a:r>
            <a:r>
              <a:rPr lang="vi-VN" b="1">
                <a:solidFill>
                  <a:srgbClr val="FF0000"/>
                </a:solidFill>
                <a:latin typeface="Times New Roman" panose="02020603050405020304" pitchFamily="18" charset="0"/>
                <a:cs typeface="Times New Roman" panose="02020603050405020304" pitchFamily="18" charset="0"/>
              </a:rPr>
              <a:t>Smart</a:t>
            </a:r>
            <a:r>
              <a:rPr lang="vi-VN">
                <a:latin typeface="Times New Roman" panose="02020603050405020304" pitchFamily="18" charset="0"/>
                <a:cs typeface="Times New Roman" panose="02020603050405020304" pitchFamily="18" charset="0"/>
              </a:rPr>
              <a:t> </a:t>
            </a:r>
            <a:r>
              <a:rPr lang="vi-VN" b="1">
                <a:solidFill>
                  <a:srgbClr val="FF0000"/>
                </a:solidFill>
                <a:latin typeface="Times New Roman" panose="02020603050405020304" pitchFamily="18" charset="0"/>
                <a:cs typeface="Times New Roman" panose="02020603050405020304" pitchFamily="18" charset="0"/>
              </a:rPr>
              <a:t>Contract</a:t>
            </a:r>
            <a:r>
              <a:rPr lang="vi-VN">
                <a:latin typeface="Times New Roman" panose="02020603050405020304" pitchFamily="18" charset="0"/>
                <a:cs typeface="Times New Roman" panose="02020603050405020304" pitchFamily="18" charset="0"/>
              </a:rPr>
              <a:t> được ứng dụng nhằm nâng cao tính minh bạch và tin cậy cho quá trình thanh toán. </a:t>
            </a:r>
            <a:r>
              <a:rPr lang="vi-VN" b="1">
                <a:solidFill>
                  <a:srgbClr val="FF0000"/>
                </a:solidFill>
                <a:latin typeface="Times New Roman" panose="02020603050405020304" pitchFamily="18" charset="0"/>
                <a:cs typeface="Times New Roman" panose="02020603050405020304" pitchFamily="18" charset="0"/>
              </a:rPr>
              <a:t>Smart</a:t>
            </a:r>
            <a:r>
              <a:rPr lang="vi-VN">
                <a:latin typeface="Times New Roman" panose="02020603050405020304" pitchFamily="18" charset="0"/>
                <a:cs typeface="Times New Roman" panose="02020603050405020304" pitchFamily="18" charset="0"/>
              </a:rPr>
              <a:t> </a:t>
            </a:r>
            <a:r>
              <a:rPr lang="vi-VN" b="1">
                <a:solidFill>
                  <a:srgbClr val="FF0000"/>
                </a:solidFill>
                <a:latin typeface="Times New Roman" panose="02020603050405020304" pitchFamily="18" charset="0"/>
                <a:cs typeface="Times New Roman" panose="02020603050405020304" pitchFamily="18" charset="0"/>
              </a:rPr>
              <a:t>Contract</a:t>
            </a:r>
            <a:r>
              <a:rPr lang="vi-VN">
                <a:latin typeface="Times New Roman" panose="02020603050405020304" pitchFamily="18" charset="0"/>
                <a:cs typeface="Times New Roman" panose="02020603050405020304" pitchFamily="18" charset="0"/>
              </a:rPr>
              <a:t> cho phép tự động thực thi việc chi trả lương khi các điều kiện được thỏa mãn, trong khi các giao dịch được ghi nhận dưới dạng transaction bất biến trên </a:t>
            </a:r>
            <a:r>
              <a:rPr lang="vi-VN" b="1">
                <a:solidFill>
                  <a:srgbClr val="FF0000"/>
                </a:solidFill>
                <a:latin typeface="Times New Roman" panose="02020603050405020304" pitchFamily="18" charset="0"/>
                <a:cs typeface="Times New Roman" panose="02020603050405020304" pitchFamily="18" charset="0"/>
              </a:rPr>
              <a:t>blockchain</a:t>
            </a:r>
            <a:r>
              <a:rPr lang="vi-VN">
                <a:latin typeface="Times New Roman" panose="02020603050405020304" pitchFamily="18" charset="0"/>
                <a:cs typeface="Times New Roman" panose="02020603050405020304" pitchFamily="18" charset="0"/>
              </a:rPr>
              <a:t>, giúp dễ dàng truy vết và kiểm toán. Sự kết hợp giữa hệ thống chấm công tự động, cơ sở dữ liệu và blockchain tạo nên nền tảng lý thuyết cho mô hình quản trị nhân sự hiện đại, hướng tới tính minh bạch, an toàn và hiệu quả trong doanh nghiệp.</a:t>
            </a:r>
          </a:p>
        </p:txBody>
      </p:sp>
    </p:spTree>
    <p:extLst>
      <p:ext uri="{BB962C8B-B14F-4D97-AF65-F5344CB8AC3E}">
        <p14:creationId xmlns:p14="http://schemas.microsoft.com/office/powerpoint/2010/main" val="1635973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DA40-7D85-1A2F-EBB3-D4A691E70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6E4EF-2E4F-94F6-0B19-6B051B21B73E}"/>
              </a:ext>
            </a:extLst>
          </p:cNvPr>
          <p:cNvSpPr>
            <a:spLocks noGrp="1"/>
          </p:cNvSpPr>
          <p:nvPr>
            <p:ph type="title"/>
          </p:nvPr>
        </p:nvSpPr>
        <p:spPr>
          <a:xfrm>
            <a:off x="3906982" y="0"/>
            <a:ext cx="8285020" cy="704917"/>
          </a:xfrm>
        </p:spPr>
        <p:txBody>
          <a:bodyPr/>
          <a:lstStyle/>
          <a:p>
            <a:r>
              <a:rPr lang="en-US"/>
              <a:t>SƠ ĐỒ LUỒNG HOẠT ĐỘNG</a:t>
            </a:r>
            <a:endParaRPr lang="en-US" dirty="0"/>
          </a:p>
        </p:txBody>
      </p:sp>
      <p:sp>
        <p:nvSpPr>
          <p:cNvPr id="4" name="Slide Number Placeholder 3">
            <a:extLst>
              <a:ext uri="{FF2B5EF4-FFF2-40B4-BE49-F238E27FC236}">
                <a16:creationId xmlns:a16="http://schemas.microsoft.com/office/drawing/2014/main" id="{9FBC522B-2ACE-648F-B1B2-C46612F8705E}"/>
              </a:ext>
            </a:extLst>
          </p:cNvPr>
          <p:cNvSpPr>
            <a:spLocks noGrp="1"/>
          </p:cNvSpPr>
          <p:nvPr>
            <p:ph type="sldNum" sz="quarter" idx="12"/>
          </p:nvPr>
        </p:nvSpPr>
        <p:spPr/>
        <p:txBody>
          <a:bodyPr/>
          <a:lstStyle/>
          <a:p>
            <a:fld id="{D379440A-2DED-3643-ADED-9B5C83E7D828}" type="slidenum">
              <a:rPr lang="en-VN" smtClean="0"/>
              <a:pPr/>
              <a:t>10</a:t>
            </a:fld>
            <a:endParaRPr lang="en-VN"/>
          </a:p>
        </p:txBody>
      </p:sp>
      <p:pic>
        <p:nvPicPr>
          <p:cNvPr id="5" name="Picture 4">
            <a:extLst>
              <a:ext uri="{FF2B5EF4-FFF2-40B4-BE49-F238E27FC236}">
                <a16:creationId xmlns:a16="http://schemas.microsoft.com/office/drawing/2014/main" id="{7D0AEC28-7F5F-19CF-EC0B-E63B4F8DA154}"/>
              </a:ext>
            </a:extLst>
          </p:cNvPr>
          <p:cNvPicPr>
            <a:picLocks noChangeAspect="1"/>
          </p:cNvPicPr>
          <p:nvPr/>
        </p:nvPicPr>
        <p:blipFill>
          <a:blip r:embed="rId3"/>
          <a:srcRect t="22123"/>
          <a:stretch>
            <a:fillRect/>
          </a:stretch>
        </p:blipFill>
        <p:spPr>
          <a:xfrm>
            <a:off x="3609051" y="794182"/>
            <a:ext cx="4973897" cy="6063817"/>
          </a:xfrm>
          <a:prstGeom prst="rect">
            <a:avLst/>
          </a:prstGeom>
        </p:spPr>
      </p:pic>
    </p:spTree>
    <p:extLst>
      <p:ext uri="{BB962C8B-B14F-4D97-AF65-F5344CB8AC3E}">
        <p14:creationId xmlns:p14="http://schemas.microsoft.com/office/powerpoint/2010/main" val="2909946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B754E-070B-3ED3-AA82-85B762C7BA3F}"/>
              </a:ext>
            </a:extLst>
          </p:cNvPr>
          <p:cNvSpPr>
            <a:spLocks noGrp="1"/>
          </p:cNvSpPr>
          <p:nvPr>
            <p:ph type="title"/>
          </p:nvPr>
        </p:nvSpPr>
        <p:spPr>
          <a:xfrm>
            <a:off x="838200" y="2041174"/>
            <a:ext cx="10515600" cy="2775652"/>
          </a:xfrm>
        </p:spPr>
        <p:txBody>
          <a:bodyPr/>
          <a:lstStyle/>
          <a:p>
            <a:pPr algn="ctr">
              <a:lnSpc>
                <a:spcPct val="150000"/>
              </a:lnSpc>
            </a:pPr>
            <a:r>
              <a:rPr lang="en-US" b="1" i="0" dirty="0">
                <a:effectLst/>
              </a:rPr>
              <a:t>3. XÂY </a:t>
            </a:r>
            <a:r>
              <a:rPr lang="en-US" b="1" i="0">
                <a:effectLst/>
              </a:rPr>
              <a:t>DỰNG </a:t>
            </a:r>
            <a:r>
              <a:rPr lang="en-US"/>
              <a:t>CHỨC NĂNG KPI THƯỞNG CÔNG VIỆC</a:t>
            </a:r>
            <a:endParaRPr lang="en-US" b="1" dirty="0"/>
          </a:p>
        </p:txBody>
      </p:sp>
      <p:sp>
        <p:nvSpPr>
          <p:cNvPr id="4" name="Slide Number Placeholder 3">
            <a:extLst>
              <a:ext uri="{FF2B5EF4-FFF2-40B4-BE49-F238E27FC236}">
                <a16:creationId xmlns:a16="http://schemas.microsoft.com/office/drawing/2014/main" id="{C4425AB8-15FE-8E64-DE7A-FB52AF6451D2}"/>
              </a:ext>
            </a:extLst>
          </p:cNvPr>
          <p:cNvSpPr>
            <a:spLocks noGrp="1"/>
          </p:cNvSpPr>
          <p:nvPr>
            <p:ph type="sldNum" sz="quarter" idx="12"/>
          </p:nvPr>
        </p:nvSpPr>
        <p:spPr/>
        <p:txBody>
          <a:bodyPr/>
          <a:lstStyle/>
          <a:p>
            <a:fld id="{D379440A-2DED-3643-ADED-9B5C83E7D828}" type="slidenum">
              <a:rPr lang="en-VN" smtClean="0"/>
              <a:pPr/>
              <a:t>11</a:t>
            </a:fld>
            <a:endParaRPr lang="en-VN"/>
          </a:p>
        </p:txBody>
      </p:sp>
    </p:spTree>
    <p:extLst>
      <p:ext uri="{BB962C8B-B14F-4D97-AF65-F5344CB8AC3E}">
        <p14:creationId xmlns:p14="http://schemas.microsoft.com/office/powerpoint/2010/main" val="3402869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AC1179-2CD1-5490-A055-9B90E9D48585}"/>
              </a:ext>
            </a:extLst>
          </p:cNvPr>
          <p:cNvSpPr>
            <a:spLocks noGrp="1"/>
          </p:cNvSpPr>
          <p:nvPr>
            <p:ph type="sldNum" sz="quarter" idx="12"/>
          </p:nvPr>
        </p:nvSpPr>
        <p:spPr/>
        <p:txBody>
          <a:bodyPr/>
          <a:lstStyle/>
          <a:p>
            <a:fld id="{D379440A-2DED-3643-ADED-9B5C83E7D828}" type="slidenum">
              <a:rPr lang="en-VN" smtClean="0"/>
              <a:pPr/>
              <a:t>12</a:t>
            </a:fld>
            <a:endParaRPr lang="en-VN"/>
          </a:p>
        </p:txBody>
      </p:sp>
      <p:sp>
        <p:nvSpPr>
          <p:cNvPr id="8" name="TextBox 7">
            <a:extLst>
              <a:ext uri="{FF2B5EF4-FFF2-40B4-BE49-F238E27FC236}">
                <a16:creationId xmlns:a16="http://schemas.microsoft.com/office/drawing/2014/main" id="{495EB09B-03A3-CBFF-67E9-55340B93303A}"/>
              </a:ext>
            </a:extLst>
          </p:cNvPr>
          <p:cNvSpPr txBox="1"/>
          <p:nvPr/>
        </p:nvSpPr>
        <p:spPr>
          <a:xfrm>
            <a:off x="263149" y="1247092"/>
            <a:ext cx="11413134" cy="4653646"/>
          </a:xfrm>
          <a:prstGeom prst="rect">
            <a:avLst/>
          </a:prstGeom>
          <a:noFill/>
        </p:spPr>
        <p:txBody>
          <a:bodyPr wrap="square">
            <a:spAutoFit/>
          </a:bodyPr>
          <a:lstStyle/>
          <a:p>
            <a:pPr indent="633413" algn="just">
              <a:lnSpc>
                <a:spcPct val="150000"/>
              </a:lnSpc>
            </a:pPr>
            <a:r>
              <a:rPr lang="vi-VN" sz="2000">
                <a:latin typeface="+mj-lt"/>
              </a:rPr>
              <a:t>“Ở chức năng quản lý công việc, quản trị viên sẽ tạo và giao nhiệm vụ cho nhân viên kèm theo độ khó và deadline. Dựa trên độ khó của công việc, hệ thống tự động xác định mức thưởng tương ứng: công việc </a:t>
            </a:r>
            <a:r>
              <a:rPr lang="vi-VN" sz="2000" b="1">
                <a:solidFill>
                  <a:srgbClr val="FF0000"/>
                </a:solidFill>
                <a:latin typeface="+mj-lt"/>
              </a:rPr>
              <a:t>dễ được thưởng 5 USDT, mức vừa là 15 USDT và công việc khó là 20 USDT</a:t>
            </a:r>
            <a:r>
              <a:rPr lang="vi-VN" sz="2000">
                <a:solidFill>
                  <a:srgbClr val="FF0000"/>
                </a:solidFill>
                <a:latin typeface="+mj-lt"/>
              </a:rPr>
              <a:t>.</a:t>
            </a:r>
          </a:p>
          <a:p>
            <a:pPr indent="633413" algn="just">
              <a:lnSpc>
                <a:spcPct val="150000"/>
              </a:lnSpc>
            </a:pPr>
            <a:r>
              <a:rPr lang="vi-VN" sz="2000">
                <a:latin typeface="+mj-lt"/>
              </a:rPr>
              <a:t>Trong quá trình thực hiện, nhân viên cập nhật tiến độ và nộp kết quả khi hoàn thành. Sau khi quản trị viên phê duyệt, hệ thống sẽ so sánh thời gian hoàn thành thực tế với deadline. Nếu công việc được hoàn thành đúng hoặc sớm hạn, nhân viên sẽ nhận đủ 100% tiền thưởng. Trường hợp hoàn thành trễ hạn, hệ thống vẫn hỗ trợ động viên bằng cách thưởng 50% mức thưởng theo độ khó.</a:t>
            </a:r>
          </a:p>
          <a:p>
            <a:pPr indent="633413" algn="just">
              <a:lnSpc>
                <a:spcPct val="150000"/>
              </a:lnSpc>
            </a:pPr>
            <a:r>
              <a:rPr lang="vi-VN" sz="2000">
                <a:latin typeface="+mj-lt"/>
              </a:rPr>
              <a:t>Toàn bộ quá trình thanh toán được thực hiện tự động thông qua Smart Contract trên blockchain, tiền thưởng sẽ được chuyển trực tiếp vào ví của nhân viên và lưu lại transaction hash, đảm bảo tính minh bạch, công bằng và không thể gian lận.”</a:t>
            </a:r>
          </a:p>
        </p:txBody>
      </p:sp>
    </p:spTree>
    <p:extLst>
      <p:ext uri="{BB962C8B-B14F-4D97-AF65-F5344CB8AC3E}">
        <p14:creationId xmlns:p14="http://schemas.microsoft.com/office/powerpoint/2010/main" val="2542194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026799-69CD-B4BE-CB61-27DFE6A3DB0D}"/>
              </a:ext>
            </a:extLst>
          </p:cNvPr>
          <p:cNvSpPr>
            <a:spLocks noGrp="1"/>
          </p:cNvSpPr>
          <p:nvPr>
            <p:ph type="sldNum" sz="quarter" idx="12"/>
          </p:nvPr>
        </p:nvSpPr>
        <p:spPr/>
        <p:txBody>
          <a:bodyPr/>
          <a:lstStyle/>
          <a:p>
            <a:fld id="{D379440A-2DED-3643-ADED-9B5C83E7D828}" type="slidenum">
              <a:rPr lang="en-VN" smtClean="0"/>
              <a:pPr/>
              <a:t>13</a:t>
            </a:fld>
            <a:endParaRPr lang="en-VN"/>
          </a:p>
        </p:txBody>
      </p:sp>
      <p:pic>
        <p:nvPicPr>
          <p:cNvPr id="6" name="Picture 5">
            <a:extLst>
              <a:ext uri="{FF2B5EF4-FFF2-40B4-BE49-F238E27FC236}">
                <a16:creationId xmlns:a16="http://schemas.microsoft.com/office/drawing/2014/main" id="{1CBA9D66-18DA-6C6F-7373-7D984BCD96C1}"/>
              </a:ext>
            </a:extLst>
          </p:cNvPr>
          <p:cNvPicPr>
            <a:picLocks noChangeAspect="1"/>
          </p:cNvPicPr>
          <p:nvPr/>
        </p:nvPicPr>
        <p:blipFill>
          <a:blip r:embed="rId2"/>
          <a:stretch>
            <a:fillRect/>
          </a:stretch>
        </p:blipFill>
        <p:spPr>
          <a:xfrm>
            <a:off x="5340047" y="0"/>
            <a:ext cx="6092964" cy="6858000"/>
          </a:xfrm>
          <a:prstGeom prst="rect">
            <a:avLst/>
          </a:prstGeom>
        </p:spPr>
      </p:pic>
      <p:sp>
        <p:nvSpPr>
          <p:cNvPr id="11" name="TextBox 10">
            <a:extLst>
              <a:ext uri="{FF2B5EF4-FFF2-40B4-BE49-F238E27FC236}">
                <a16:creationId xmlns:a16="http://schemas.microsoft.com/office/drawing/2014/main" id="{F07F6E35-BCDD-3C0E-8C2B-7EA16A9E0B2A}"/>
              </a:ext>
            </a:extLst>
          </p:cNvPr>
          <p:cNvSpPr txBox="1"/>
          <p:nvPr/>
        </p:nvSpPr>
        <p:spPr>
          <a:xfrm>
            <a:off x="333361" y="3167390"/>
            <a:ext cx="5006686" cy="523220"/>
          </a:xfrm>
          <a:prstGeom prst="rect">
            <a:avLst/>
          </a:prstGeom>
          <a:noFill/>
        </p:spPr>
        <p:txBody>
          <a:bodyPr wrap="square">
            <a:spAutoFit/>
          </a:bodyPr>
          <a:lstStyle/>
          <a:p>
            <a:r>
              <a:rPr lang="en-US" sz="2800" b="1">
                <a:solidFill>
                  <a:srgbClr val="FF0000"/>
                </a:solidFill>
                <a:latin typeface="Times New Roman" panose="02020603050405020304" pitchFamily="18" charset="0"/>
                <a:cs typeface="Times New Roman" panose="02020603050405020304" pitchFamily="18" charset="0"/>
              </a:rPr>
              <a:t>SƠ ĐỒ LUỒNG HOẠT ĐỘNG</a:t>
            </a:r>
          </a:p>
        </p:txBody>
      </p:sp>
    </p:spTree>
    <p:extLst>
      <p:ext uri="{BB962C8B-B14F-4D97-AF65-F5344CB8AC3E}">
        <p14:creationId xmlns:p14="http://schemas.microsoft.com/office/powerpoint/2010/main" val="2308041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4BA0B-5CBC-1787-FFB2-71D85546C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66137-118A-3DF6-DAF2-4137C4A57AB6}"/>
              </a:ext>
            </a:extLst>
          </p:cNvPr>
          <p:cNvSpPr>
            <a:spLocks noGrp="1"/>
          </p:cNvSpPr>
          <p:nvPr>
            <p:ph type="title"/>
          </p:nvPr>
        </p:nvSpPr>
        <p:spPr>
          <a:xfrm>
            <a:off x="838200" y="2041174"/>
            <a:ext cx="10515600" cy="2775652"/>
          </a:xfrm>
        </p:spPr>
        <p:txBody>
          <a:bodyPr/>
          <a:lstStyle/>
          <a:p>
            <a:pPr algn="ctr">
              <a:lnSpc>
                <a:spcPct val="150000"/>
              </a:lnSpc>
            </a:pPr>
            <a:r>
              <a:rPr lang="en-US" dirty="0"/>
              <a:t>4</a:t>
            </a:r>
            <a:r>
              <a:rPr lang="en-US" b="1" i="0">
                <a:effectLst/>
              </a:rPr>
              <a:t>. </a:t>
            </a:r>
            <a:r>
              <a:rPr lang="en-US" b="1" i="0" dirty="0">
                <a:effectLst/>
              </a:rPr>
              <a:t>XÂY </a:t>
            </a:r>
            <a:r>
              <a:rPr lang="en-US" b="1" i="0">
                <a:effectLst/>
              </a:rPr>
              <a:t>DỰNG </a:t>
            </a:r>
            <a:r>
              <a:rPr lang="en-US"/>
              <a:t>CHỨC NĂNG ĐĂNG NHẬP QR CODE</a:t>
            </a:r>
            <a:endParaRPr lang="en-US" b="1" dirty="0"/>
          </a:p>
        </p:txBody>
      </p:sp>
      <p:sp>
        <p:nvSpPr>
          <p:cNvPr id="4" name="Slide Number Placeholder 3">
            <a:extLst>
              <a:ext uri="{FF2B5EF4-FFF2-40B4-BE49-F238E27FC236}">
                <a16:creationId xmlns:a16="http://schemas.microsoft.com/office/drawing/2014/main" id="{D2581A4D-FDBF-1A43-2327-6E61579FBC27}"/>
              </a:ext>
            </a:extLst>
          </p:cNvPr>
          <p:cNvSpPr>
            <a:spLocks noGrp="1"/>
          </p:cNvSpPr>
          <p:nvPr>
            <p:ph type="sldNum" sz="quarter" idx="12"/>
          </p:nvPr>
        </p:nvSpPr>
        <p:spPr/>
        <p:txBody>
          <a:bodyPr/>
          <a:lstStyle/>
          <a:p>
            <a:fld id="{D379440A-2DED-3643-ADED-9B5C83E7D828}" type="slidenum">
              <a:rPr lang="en-VN" smtClean="0"/>
              <a:pPr/>
              <a:t>14</a:t>
            </a:fld>
            <a:endParaRPr lang="en-VN"/>
          </a:p>
        </p:txBody>
      </p:sp>
    </p:spTree>
    <p:extLst>
      <p:ext uri="{BB962C8B-B14F-4D97-AF65-F5344CB8AC3E}">
        <p14:creationId xmlns:p14="http://schemas.microsoft.com/office/powerpoint/2010/main" val="2364594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843D11-682A-4230-B421-4B7FD4104C58}"/>
              </a:ext>
            </a:extLst>
          </p:cNvPr>
          <p:cNvSpPr>
            <a:spLocks noGrp="1"/>
          </p:cNvSpPr>
          <p:nvPr>
            <p:ph type="sldNum" sz="quarter" idx="12"/>
          </p:nvPr>
        </p:nvSpPr>
        <p:spPr/>
        <p:txBody>
          <a:bodyPr/>
          <a:lstStyle/>
          <a:p>
            <a:fld id="{D379440A-2DED-3643-ADED-9B5C83E7D828}" type="slidenum">
              <a:rPr lang="en-VN" smtClean="0"/>
              <a:pPr/>
              <a:t>15</a:t>
            </a:fld>
            <a:endParaRPr lang="en-VN"/>
          </a:p>
        </p:txBody>
      </p:sp>
      <p:sp>
        <p:nvSpPr>
          <p:cNvPr id="6" name="TextBox 5">
            <a:extLst>
              <a:ext uri="{FF2B5EF4-FFF2-40B4-BE49-F238E27FC236}">
                <a16:creationId xmlns:a16="http://schemas.microsoft.com/office/drawing/2014/main" id="{09D41EB8-65B8-894E-C299-1A90672342A1}"/>
              </a:ext>
            </a:extLst>
          </p:cNvPr>
          <p:cNvSpPr txBox="1"/>
          <p:nvPr/>
        </p:nvSpPr>
        <p:spPr>
          <a:xfrm>
            <a:off x="292677" y="1906515"/>
            <a:ext cx="11606645" cy="2777940"/>
          </a:xfrm>
          <a:prstGeom prst="rect">
            <a:avLst/>
          </a:prstGeom>
          <a:noFill/>
        </p:spPr>
        <p:txBody>
          <a:bodyPr wrap="square">
            <a:spAutoFit/>
          </a:bodyPr>
          <a:lstStyle/>
          <a:p>
            <a:pPr algn="just">
              <a:lnSpc>
                <a:spcPct val="200000"/>
              </a:lnSpc>
            </a:pPr>
            <a:r>
              <a:rPr lang="vi-VN" b="1">
                <a:latin typeface="+mj-lt"/>
              </a:rPr>
              <a:t>QR Code (Quick Response Code)</a:t>
            </a:r>
            <a:r>
              <a:rPr lang="vi-VN">
                <a:latin typeface="+mj-lt"/>
              </a:rPr>
              <a:t> là mã vạch hai chiều do </a:t>
            </a:r>
            <a:r>
              <a:rPr lang="vi-VN" b="1">
                <a:latin typeface="+mj-lt"/>
              </a:rPr>
              <a:t>Denso Wave phát minh năm 1994</a:t>
            </a:r>
            <a:r>
              <a:rPr lang="vi-VN">
                <a:latin typeface="+mj-lt"/>
              </a:rPr>
              <a:t>, cho phép lưu trữ dữ liệu trực tiếp trong mã và quét nhanh bằng camera. QR Code có </a:t>
            </a:r>
            <a:r>
              <a:rPr lang="vi-VN" b="1">
                <a:latin typeface="+mj-lt"/>
              </a:rPr>
              <a:t>dung lượng lớn</a:t>
            </a:r>
            <a:r>
              <a:rPr lang="vi-VN">
                <a:latin typeface="+mj-lt"/>
              </a:rPr>
              <a:t>, </a:t>
            </a:r>
            <a:r>
              <a:rPr lang="vi-VN" b="1">
                <a:latin typeface="+mj-lt"/>
              </a:rPr>
              <a:t>khả năng sửa lỗi cao</a:t>
            </a:r>
            <a:r>
              <a:rPr lang="vi-VN">
                <a:latin typeface="+mj-lt"/>
              </a:rPr>
              <a:t>, </a:t>
            </a:r>
            <a:r>
              <a:rPr lang="vi-VN" b="1">
                <a:latin typeface="+mj-lt"/>
              </a:rPr>
              <a:t>không cần Internet</a:t>
            </a:r>
            <a:r>
              <a:rPr lang="vi-VN">
                <a:latin typeface="+mj-lt"/>
              </a:rPr>
              <a:t> và vẫn đọc được khi bị hư hỏng một phần. Trong hệ thống xác thực, QR Code chứa dữ liệu </a:t>
            </a:r>
            <a:r>
              <a:rPr lang="vi-VN" b="1">
                <a:latin typeface="+mj-lt"/>
              </a:rPr>
              <a:t>JSON</a:t>
            </a:r>
            <a:r>
              <a:rPr lang="vi-VN">
                <a:latin typeface="+mj-lt"/>
              </a:rPr>
              <a:t> gồm thông tin định danh người dùng và được xử lý theo quy trình </a:t>
            </a:r>
            <a:r>
              <a:rPr lang="vi-VN" b="1">
                <a:latin typeface="+mj-lt"/>
              </a:rPr>
              <a:t>tạo – quét – xác thực</a:t>
            </a:r>
            <a:r>
              <a:rPr lang="vi-VN">
                <a:latin typeface="+mj-lt"/>
              </a:rPr>
              <a:t>. Mỗi QR Code được gắn </a:t>
            </a:r>
            <a:r>
              <a:rPr lang="vi-VN" b="1">
                <a:latin typeface="+mj-lt"/>
              </a:rPr>
              <a:t>hash SHA-256</a:t>
            </a:r>
            <a:r>
              <a:rPr lang="vi-VN">
                <a:latin typeface="+mj-lt"/>
              </a:rPr>
              <a:t> nhằm đảm bảo tính toàn vẹn, ngăn giả mạo và tăng cường bảo mật, giúp quá trình đăng nhập diễn ra </a:t>
            </a:r>
            <a:r>
              <a:rPr lang="vi-VN" b="1">
                <a:latin typeface="+mj-lt"/>
              </a:rPr>
              <a:t>nhanh chóng, an toàn và tiện lợi</a:t>
            </a:r>
            <a:r>
              <a:rPr lang="vi-VN">
                <a:latin typeface="+mj-lt"/>
              </a:rPr>
              <a:t>.</a:t>
            </a:r>
          </a:p>
        </p:txBody>
      </p:sp>
    </p:spTree>
    <p:extLst>
      <p:ext uri="{BB962C8B-B14F-4D97-AF65-F5344CB8AC3E}">
        <p14:creationId xmlns:p14="http://schemas.microsoft.com/office/powerpoint/2010/main" val="3399275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2283CB-E045-17D2-5D74-04E7DDB57D27}"/>
              </a:ext>
            </a:extLst>
          </p:cNvPr>
          <p:cNvSpPr>
            <a:spLocks noGrp="1"/>
          </p:cNvSpPr>
          <p:nvPr>
            <p:ph type="sldNum" sz="quarter" idx="12"/>
          </p:nvPr>
        </p:nvSpPr>
        <p:spPr/>
        <p:txBody>
          <a:bodyPr/>
          <a:lstStyle/>
          <a:p>
            <a:fld id="{D379440A-2DED-3643-ADED-9B5C83E7D828}" type="slidenum">
              <a:rPr lang="en-VN" smtClean="0"/>
              <a:pPr/>
              <a:t>16</a:t>
            </a:fld>
            <a:endParaRPr lang="en-VN"/>
          </a:p>
        </p:txBody>
      </p:sp>
      <p:pic>
        <p:nvPicPr>
          <p:cNvPr id="8" name="Picture 7">
            <a:extLst>
              <a:ext uri="{FF2B5EF4-FFF2-40B4-BE49-F238E27FC236}">
                <a16:creationId xmlns:a16="http://schemas.microsoft.com/office/drawing/2014/main" id="{233DAB64-BD34-1BF1-E27E-A42CE489AC39}"/>
              </a:ext>
            </a:extLst>
          </p:cNvPr>
          <p:cNvPicPr>
            <a:picLocks noChangeAspect="1"/>
          </p:cNvPicPr>
          <p:nvPr/>
        </p:nvPicPr>
        <p:blipFill>
          <a:blip r:embed="rId2"/>
          <a:stretch>
            <a:fillRect/>
          </a:stretch>
        </p:blipFill>
        <p:spPr>
          <a:xfrm>
            <a:off x="4317220" y="824164"/>
            <a:ext cx="7864620" cy="5775409"/>
          </a:xfrm>
          <a:prstGeom prst="rect">
            <a:avLst/>
          </a:prstGeom>
        </p:spPr>
      </p:pic>
      <p:sp>
        <p:nvSpPr>
          <p:cNvPr id="9" name="TextBox 8">
            <a:extLst>
              <a:ext uri="{FF2B5EF4-FFF2-40B4-BE49-F238E27FC236}">
                <a16:creationId xmlns:a16="http://schemas.microsoft.com/office/drawing/2014/main" id="{3B50B846-0104-9104-C10B-DAD655D76CEA}"/>
              </a:ext>
            </a:extLst>
          </p:cNvPr>
          <p:cNvSpPr txBox="1"/>
          <p:nvPr/>
        </p:nvSpPr>
        <p:spPr>
          <a:xfrm>
            <a:off x="884079" y="2951946"/>
            <a:ext cx="2752739" cy="954107"/>
          </a:xfrm>
          <a:prstGeom prst="rect">
            <a:avLst/>
          </a:prstGeom>
          <a:noFill/>
        </p:spPr>
        <p:txBody>
          <a:bodyPr wrap="square">
            <a:spAutoFit/>
          </a:bodyPr>
          <a:lstStyle/>
          <a:p>
            <a:pPr algn="ctr"/>
            <a:r>
              <a:rPr lang="en-US" sz="2800" b="1">
                <a:solidFill>
                  <a:srgbClr val="FF0000"/>
                </a:solidFill>
                <a:latin typeface="Times New Roman" panose="02020603050405020304" pitchFamily="18" charset="0"/>
                <a:cs typeface="Times New Roman" panose="02020603050405020304" pitchFamily="18" charset="0"/>
              </a:rPr>
              <a:t>SƠ ĐỒ LUỒNG HOẠT ĐỘNG</a:t>
            </a:r>
          </a:p>
        </p:txBody>
      </p:sp>
    </p:spTree>
    <p:extLst>
      <p:ext uri="{BB962C8B-B14F-4D97-AF65-F5344CB8AC3E}">
        <p14:creationId xmlns:p14="http://schemas.microsoft.com/office/powerpoint/2010/main" val="3088013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0185A1-3368-2434-979F-BDA556CF39E4}"/>
              </a:ext>
            </a:extLst>
          </p:cNvPr>
          <p:cNvSpPr>
            <a:spLocks noGrp="1"/>
          </p:cNvSpPr>
          <p:nvPr>
            <p:ph type="title"/>
          </p:nvPr>
        </p:nvSpPr>
        <p:spPr/>
        <p:txBody>
          <a:bodyPr/>
          <a:lstStyle/>
          <a:p>
            <a:r>
              <a:rPr lang="en-US" dirty="0"/>
              <a:t>KIỂM THỬ &amp; ĐÁNH GIÁ</a:t>
            </a:r>
            <a:endParaRPr lang="en-US" dirty="0">
              <a:effectLst/>
            </a:endParaRPr>
          </a:p>
        </p:txBody>
      </p:sp>
      <p:sp>
        <p:nvSpPr>
          <p:cNvPr id="3" name="Slide Number Placeholder 2">
            <a:extLst>
              <a:ext uri="{FF2B5EF4-FFF2-40B4-BE49-F238E27FC236}">
                <a16:creationId xmlns:a16="http://schemas.microsoft.com/office/drawing/2014/main" id="{47836655-88D0-D5BE-32A0-E64729B780EA}"/>
              </a:ext>
            </a:extLst>
          </p:cNvPr>
          <p:cNvSpPr>
            <a:spLocks noGrp="1"/>
          </p:cNvSpPr>
          <p:nvPr>
            <p:ph type="sldNum" sz="quarter" idx="12"/>
          </p:nvPr>
        </p:nvSpPr>
        <p:spPr/>
        <p:txBody>
          <a:bodyPr/>
          <a:lstStyle/>
          <a:p>
            <a:fld id="{D379440A-2DED-3643-ADED-9B5C83E7D828}" type="slidenum">
              <a:rPr lang="en-VN" sz="1500" b="1" smtClean="0"/>
              <a:pPr/>
              <a:t>17</a:t>
            </a:fld>
            <a:endParaRPr lang="en-VN" sz="1500" b="1"/>
          </a:p>
        </p:txBody>
      </p:sp>
      <p:sp>
        <p:nvSpPr>
          <p:cNvPr id="6" name="TextBox 5">
            <a:extLst>
              <a:ext uri="{FF2B5EF4-FFF2-40B4-BE49-F238E27FC236}">
                <a16:creationId xmlns:a16="http://schemas.microsoft.com/office/drawing/2014/main" id="{E2589951-2B2B-360F-7339-657F76B56A6D}"/>
              </a:ext>
            </a:extLst>
          </p:cNvPr>
          <p:cNvSpPr txBox="1"/>
          <p:nvPr/>
        </p:nvSpPr>
        <p:spPr>
          <a:xfrm>
            <a:off x="297191" y="556165"/>
            <a:ext cx="11597617" cy="6038641"/>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vi-VN" sz="2000" b="1">
                <a:solidFill>
                  <a:srgbClr val="FF0000"/>
                </a:solidFill>
                <a:latin typeface="+mj-lt"/>
              </a:rPr>
              <a:t>Phương pháp kiểm thử</a:t>
            </a:r>
          </a:p>
          <a:p>
            <a:pPr>
              <a:lnSpc>
                <a:spcPct val="150000"/>
              </a:lnSpc>
            </a:pPr>
            <a:r>
              <a:rPr lang="vi-VN" sz="2000">
                <a:latin typeface="+mj-lt"/>
              </a:rPr>
              <a:t>Kiểm thử </a:t>
            </a:r>
            <a:r>
              <a:rPr lang="vi-VN" sz="2000" b="1">
                <a:latin typeface="+mj-lt"/>
              </a:rPr>
              <a:t>API Backend bằng Postman</a:t>
            </a:r>
            <a:r>
              <a:rPr lang="vi-VN" sz="2000">
                <a:latin typeface="+mj-lt"/>
              </a:rPr>
              <a:t> (JWT, Blockchain Auth, JSON response)</a:t>
            </a:r>
          </a:p>
          <a:p>
            <a:pPr>
              <a:lnSpc>
                <a:spcPct val="150000"/>
              </a:lnSpc>
            </a:pPr>
            <a:r>
              <a:rPr lang="vi-VN" sz="2000">
                <a:latin typeface="+mj-lt"/>
              </a:rPr>
              <a:t>Kiểm thử </a:t>
            </a:r>
            <a:r>
              <a:rPr lang="vi-VN" sz="2000" b="1">
                <a:latin typeface="+mj-lt"/>
              </a:rPr>
              <a:t>giao diện Web bằng Google Lighthouse</a:t>
            </a:r>
            <a:endParaRPr lang="vi-VN" sz="2000">
              <a:latin typeface="+mj-lt"/>
            </a:endParaRPr>
          </a:p>
          <a:p>
            <a:pPr marL="342900" indent="-342900">
              <a:lnSpc>
                <a:spcPct val="150000"/>
              </a:lnSpc>
              <a:buFont typeface="Arial" panose="020B0604020202020204" pitchFamily="34" charset="0"/>
              <a:buChar char="•"/>
            </a:pPr>
            <a:r>
              <a:rPr lang="vi-VN" sz="2000" b="1">
                <a:solidFill>
                  <a:srgbClr val="FF0000"/>
                </a:solidFill>
                <a:latin typeface="+mj-lt"/>
              </a:rPr>
              <a:t>Kết quả kiểm thử chức năng</a:t>
            </a:r>
          </a:p>
          <a:p>
            <a:pPr marL="342900" indent="-342900">
              <a:lnSpc>
                <a:spcPct val="150000"/>
              </a:lnSpc>
              <a:buFont typeface="Wingdings" panose="05000000000000000000" pitchFamily="2" charset="2"/>
              <a:buChar char="q"/>
            </a:pPr>
            <a:r>
              <a:rPr lang="vi-VN" sz="2000" b="1">
                <a:latin typeface="+mj-lt"/>
              </a:rPr>
              <a:t>API Backend</a:t>
            </a:r>
            <a:r>
              <a:rPr lang="vi-VN" sz="2000">
                <a:latin typeface="+mj-lt"/>
              </a:rPr>
              <a:t>:</a:t>
            </a:r>
            <a:br>
              <a:rPr lang="vi-VN" sz="2000">
                <a:latin typeface="+mj-lt"/>
              </a:rPr>
            </a:br>
            <a:r>
              <a:rPr lang="vi-VN" sz="2000">
                <a:latin typeface="+mj-lt"/>
              </a:rPr>
              <a:t>100% test case </a:t>
            </a:r>
            <a:r>
              <a:rPr lang="vi-VN" sz="2000" b="1">
                <a:latin typeface="+mj-lt"/>
              </a:rPr>
              <a:t>Pass</a:t>
            </a:r>
            <a:r>
              <a:rPr lang="vi-VN" sz="2000">
                <a:latin typeface="+mj-lt"/>
              </a:rPr>
              <a:t> (Auth, Employees, Departments, Roles, QR, Attendance, Tasks, Smart Contract Logs)</a:t>
            </a:r>
          </a:p>
          <a:p>
            <a:pPr marL="342900" indent="-342900">
              <a:lnSpc>
                <a:spcPct val="150000"/>
              </a:lnSpc>
              <a:buFont typeface="Wingdings" panose="05000000000000000000" pitchFamily="2" charset="2"/>
              <a:buChar char="q"/>
            </a:pPr>
            <a:r>
              <a:rPr lang="vi-VN" sz="2000" b="1">
                <a:latin typeface="Times New Roman (Headings)"/>
              </a:rPr>
              <a:t>We</a:t>
            </a:r>
            <a:r>
              <a:rPr lang="en-US" sz="2000" b="1">
                <a:latin typeface="Times New Roman (Headings)"/>
              </a:rPr>
              <a:t>b Người quản lý</a:t>
            </a:r>
            <a:br>
              <a:rPr lang="vi-VN" sz="2000">
                <a:latin typeface="+mj-lt"/>
              </a:rPr>
            </a:br>
            <a:r>
              <a:rPr lang="vi-VN" sz="2000">
                <a:latin typeface="+mj-lt"/>
              </a:rPr>
              <a:t>Chức năng quản trị hoạt động ổn định, đúng nghiệp vụ</a:t>
            </a:r>
          </a:p>
          <a:p>
            <a:pPr marL="342900" indent="-342900">
              <a:lnSpc>
                <a:spcPct val="150000"/>
              </a:lnSpc>
              <a:buFont typeface="Wingdings" panose="05000000000000000000" pitchFamily="2" charset="2"/>
              <a:buChar char="q"/>
            </a:pPr>
            <a:r>
              <a:rPr lang="vi-VN" sz="2000" b="1">
                <a:latin typeface="+mj-lt"/>
              </a:rPr>
              <a:t>Web Nhân viên</a:t>
            </a:r>
            <a:r>
              <a:rPr lang="vi-VN" sz="2000">
                <a:latin typeface="+mj-lt"/>
              </a:rPr>
              <a:t>:</a:t>
            </a:r>
            <a:br>
              <a:rPr lang="vi-VN" sz="2000">
                <a:latin typeface="+mj-lt"/>
              </a:rPr>
            </a:br>
            <a:r>
              <a:rPr lang="vi-VN" sz="2000">
                <a:latin typeface="+mj-lt"/>
              </a:rPr>
              <a:t>Đăng nhập, giao việc, chấm công QR, KPI, lịch sử hoạt động chính xác</a:t>
            </a:r>
          </a:p>
          <a:p>
            <a:pPr>
              <a:lnSpc>
                <a:spcPct val="150000"/>
              </a:lnSpc>
            </a:pPr>
            <a:r>
              <a:rPr lang="vi-VN" sz="2000">
                <a:latin typeface="+mj-lt"/>
              </a:rPr>
              <a:t>Hệ thống </a:t>
            </a:r>
            <a:r>
              <a:rPr lang="vi-VN" sz="2000" b="1">
                <a:latin typeface="+mj-lt"/>
              </a:rPr>
              <a:t>ổn định</a:t>
            </a:r>
            <a:r>
              <a:rPr lang="vi-VN" sz="2000">
                <a:latin typeface="+mj-lt"/>
              </a:rPr>
              <a:t>, không phát sinh lỗi nghiêm trọng</a:t>
            </a:r>
          </a:p>
          <a:p>
            <a:pPr>
              <a:lnSpc>
                <a:spcPct val="150000"/>
              </a:lnSpc>
            </a:pPr>
            <a:r>
              <a:rPr lang="vi-VN" sz="2000">
                <a:latin typeface="+mj-lt"/>
              </a:rPr>
              <a:t>Luồng </a:t>
            </a:r>
            <a:r>
              <a:rPr lang="vi-VN" sz="2000" b="1">
                <a:latin typeface="+mj-lt"/>
              </a:rPr>
              <a:t>Blockchain Auth – Chấm công – Thanh toán – Log Smart Contract</a:t>
            </a:r>
            <a:r>
              <a:rPr lang="vi-VN" sz="2000">
                <a:latin typeface="+mj-lt"/>
              </a:rPr>
              <a:t> hoạt động chính xác</a:t>
            </a:r>
          </a:p>
          <a:p>
            <a:pPr>
              <a:lnSpc>
                <a:spcPct val="150000"/>
              </a:lnSpc>
            </a:pPr>
            <a:r>
              <a:rPr lang="vi-VN" sz="2000">
                <a:latin typeface="+mj-lt"/>
              </a:rPr>
              <a:t>Sẵn sàng triển khai và mở rộng trong giai đoạn tiếp theo</a:t>
            </a:r>
          </a:p>
        </p:txBody>
      </p:sp>
    </p:spTree>
    <p:extLst>
      <p:ext uri="{BB962C8B-B14F-4D97-AF65-F5344CB8AC3E}">
        <p14:creationId xmlns:p14="http://schemas.microsoft.com/office/powerpoint/2010/main" val="748897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2252B-56C3-1881-6DF6-4FEB2A606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58E62-3838-EEDA-7B48-AC306F2824F6}"/>
              </a:ext>
            </a:extLst>
          </p:cNvPr>
          <p:cNvSpPr>
            <a:spLocks noGrp="1"/>
          </p:cNvSpPr>
          <p:nvPr>
            <p:ph type="title"/>
          </p:nvPr>
        </p:nvSpPr>
        <p:spPr>
          <a:xfrm>
            <a:off x="0" y="2887040"/>
            <a:ext cx="12181840" cy="1083919"/>
          </a:xfrm>
        </p:spPr>
        <p:txBody>
          <a:bodyPr/>
          <a:lstStyle/>
          <a:p>
            <a:pPr algn="ctr"/>
            <a:r>
              <a:rPr lang="en-US" sz="5000" b="1" i="0">
                <a:solidFill>
                  <a:srgbClr val="FF0000"/>
                </a:solidFill>
                <a:effectLst/>
              </a:rPr>
              <a:t>KẾT </a:t>
            </a:r>
            <a:r>
              <a:rPr lang="en-US" sz="5000" b="1" i="0" dirty="0">
                <a:solidFill>
                  <a:srgbClr val="FF0000"/>
                </a:solidFill>
                <a:effectLst/>
              </a:rPr>
              <a:t>LUẬN &amp; HƯỚNG PHÁT TRIỂN</a:t>
            </a:r>
            <a:endParaRPr lang="en-US" sz="5000" b="1" dirty="0">
              <a:solidFill>
                <a:srgbClr val="FF0000"/>
              </a:solidFill>
            </a:endParaRPr>
          </a:p>
        </p:txBody>
      </p:sp>
      <p:sp>
        <p:nvSpPr>
          <p:cNvPr id="4" name="Slide Number Placeholder 3">
            <a:extLst>
              <a:ext uri="{FF2B5EF4-FFF2-40B4-BE49-F238E27FC236}">
                <a16:creationId xmlns:a16="http://schemas.microsoft.com/office/drawing/2014/main" id="{4D2F5648-065A-65D6-42DC-4553AA791C91}"/>
              </a:ext>
            </a:extLst>
          </p:cNvPr>
          <p:cNvSpPr>
            <a:spLocks noGrp="1"/>
          </p:cNvSpPr>
          <p:nvPr>
            <p:ph type="sldNum" sz="quarter" idx="12"/>
          </p:nvPr>
        </p:nvSpPr>
        <p:spPr/>
        <p:txBody>
          <a:bodyPr/>
          <a:lstStyle/>
          <a:p>
            <a:fld id="{D379440A-2DED-3643-ADED-9B5C83E7D828}" type="slidenum">
              <a:rPr lang="en-VN" smtClean="0"/>
              <a:pPr/>
              <a:t>18</a:t>
            </a:fld>
            <a:endParaRPr lang="en-VN"/>
          </a:p>
        </p:txBody>
      </p:sp>
    </p:spTree>
    <p:extLst>
      <p:ext uri="{BB962C8B-B14F-4D97-AF65-F5344CB8AC3E}">
        <p14:creationId xmlns:p14="http://schemas.microsoft.com/office/powerpoint/2010/main" val="1868125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572F4-C446-35C7-D653-735933583780}"/>
              </a:ext>
            </a:extLst>
          </p:cNvPr>
          <p:cNvSpPr>
            <a:spLocks noGrp="1"/>
          </p:cNvSpPr>
          <p:nvPr>
            <p:ph type="title"/>
          </p:nvPr>
        </p:nvSpPr>
        <p:spPr/>
        <p:txBody>
          <a:bodyPr/>
          <a:lstStyle/>
          <a:p>
            <a:r>
              <a:rPr lang="en-US" dirty="0"/>
              <a:t>KẾT LUẬN CHUNG</a:t>
            </a:r>
            <a:endParaRPr lang="vi-VN" dirty="0"/>
          </a:p>
        </p:txBody>
      </p:sp>
      <p:sp>
        <p:nvSpPr>
          <p:cNvPr id="3" name="Content Placeholder 2">
            <a:extLst>
              <a:ext uri="{FF2B5EF4-FFF2-40B4-BE49-F238E27FC236}">
                <a16:creationId xmlns:a16="http://schemas.microsoft.com/office/drawing/2014/main" id="{07C23425-F132-7604-B1E1-DE42FD61BAFC}"/>
              </a:ext>
            </a:extLst>
          </p:cNvPr>
          <p:cNvSpPr>
            <a:spLocks noGrp="1"/>
          </p:cNvSpPr>
          <p:nvPr>
            <p:ph idx="1"/>
          </p:nvPr>
        </p:nvSpPr>
        <p:spPr>
          <a:xfrm>
            <a:off x="1013901" y="704917"/>
            <a:ext cx="10164197" cy="5523345"/>
          </a:xfrm>
        </p:spPr>
        <p:txBody>
          <a:bodyPr/>
          <a:lstStyle/>
          <a:p>
            <a:pPr marL="0" indent="0" algn="just">
              <a:lnSpc>
                <a:spcPct val="150000"/>
              </a:lnSpc>
              <a:buNone/>
            </a:pPr>
            <a:r>
              <a:rPr lang="vi-VN" b="1" dirty="0"/>
              <a:t>1. Kết quả đạt được:</a:t>
            </a:r>
            <a:endParaRPr lang="vi-VN" dirty="0"/>
          </a:p>
          <a:p>
            <a:pPr algn="just">
              <a:lnSpc>
                <a:spcPct val="150000"/>
              </a:lnSpc>
            </a:pPr>
            <a:r>
              <a:rPr lang="vi-VN" sz="1800"/>
              <a:t>Xây dựng thành công hệ thống quản lý công việc &amp; thưởng tự động trên Blockchain</a:t>
            </a:r>
          </a:p>
          <a:p>
            <a:pPr algn="just">
              <a:lnSpc>
                <a:spcPct val="150000"/>
              </a:lnSpc>
            </a:pPr>
            <a:r>
              <a:rPr lang="vi-VN" sz="1800"/>
              <a:t>Hỗ trợ đầy đủ: giao việc, theo dõi tiến độ, chấm công, tính thưởng, thanh toán minh bạch qua Smart Contract</a:t>
            </a:r>
          </a:p>
          <a:p>
            <a:pPr algn="just">
              <a:lnSpc>
                <a:spcPct val="150000"/>
              </a:lnSpc>
            </a:pPr>
            <a:r>
              <a:rPr lang="vi-VN" sz="1800"/>
              <a:t>Kiến trúc 3 tầng ổn định, phân quyền rõ ràng, dữ liệu &amp; giao dịch công khai – không thể chỉnh sửa</a:t>
            </a:r>
          </a:p>
          <a:p>
            <a:pPr algn="just">
              <a:lnSpc>
                <a:spcPct val="150000"/>
              </a:lnSpc>
            </a:pPr>
            <a:r>
              <a:rPr lang="vi-VN" sz="1800"/>
              <a:t>Hệ thống vận hành</a:t>
            </a:r>
            <a:r>
              <a:rPr lang="en-US" sz="1800"/>
              <a:t> tương đối</a:t>
            </a:r>
            <a:r>
              <a:rPr lang="vi-VN" sz="1800"/>
              <a:t> ổn định</a:t>
            </a:r>
            <a:r>
              <a:rPr lang="en-US" sz="1800"/>
              <a:t>.</a:t>
            </a:r>
            <a:endParaRPr lang="vi-VN" sz="1800" dirty="0"/>
          </a:p>
          <a:p>
            <a:pPr marL="0" indent="0" algn="just">
              <a:lnSpc>
                <a:spcPct val="150000"/>
              </a:lnSpc>
              <a:buNone/>
            </a:pPr>
            <a:r>
              <a:rPr lang="vi-VN" b="1" dirty="0"/>
              <a:t>2. Hạn chế</a:t>
            </a:r>
            <a:r>
              <a:rPr lang="en-US" b="1" dirty="0"/>
              <a:t> </a:t>
            </a:r>
            <a:r>
              <a:rPr lang="en-US" b="1" dirty="0" err="1"/>
              <a:t>và</a:t>
            </a:r>
            <a:r>
              <a:rPr lang="en-US" b="1" dirty="0"/>
              <a:t> </a:t>
            </a:r>
            <a:r>
              <a:rPr lang="en-US" b="1" dirty="0" err="1"/>
              <a:t>hướng</a:t>
            </a:r>
            <a:r>
              <a:rPr lang="en-US" b="1" dirty="0"/>
              <a:t> </a:t>
            </a:r>
            <a:r>
              <a:rPr lang="en-US" b="1" dirty="0" err="1"/>
              <a:t>phát</a:t>
            </a:r>
            <a:r>
              <a:rPr lang="en-US" b="1" dirty="0"/>
              <a:t> </a:t>
            </a:r>
            <a:r>
              <a:rPr lang="en-US" b="1" dirty="0" err="1"/>
              <a:t>triển</a:t>
            </a:r>
            <a:endParaRPr lang="vi-VN" dirty="0"/>
          </a:p>
          <a:p>
            <a:pPr>
              <a:lnSpc>
                <a:spcPct val="150000"/>
              </a:lnSpc>
            </a:pPr>
            <a:r>
              <a:rPr lang="vi-VN" sz="1800" b="1"/>
              <a:t>Hạn chế: </a:t>
            </a:r>
            <a:r>
              <a:rPr lang="vi-VN" sz="1800"/>
              <a:t>chưa có mobile app, real-time, quản lý dự án, tối ưu hiệu năng sâu</a:t>
            </a:r>
          </a:p>
          <a:p>
            <a:pPr>
              <a:lnSpc>
                <a:spcPct val="150000"/>
              </a:lnSpc>
            </a:pPr>
            <a:r>
              <a:rPr lang="vi-VN" sz="1800" b="1"/>
              <a:t>Hướng phát triển:</a:t>
            </a:r>
            <a:r>
              <a:rPr lang="vi-VN" sz="1800"/>
              <a:t> Mobile App, Project Management, AI/ML, Layer 2 Blockchain, mở rộng quy mô hệ thống</a:t>
            </a:r>
            <a:r>
              <a:rPr lang="en-US" sz="1800"/>
              <a:t>.</a:t>
            </a:r>
            <a:endParaRPr lang="vi-VN" sz="1800"/>
          </a:p>
          <a:p>
            <a:pPr marL="0" indent="0" algn="just">
              <a:lnSpc>
                <a:spcPct val="100000"/>
              </a:lnSpc>
              <a:buNone/>
            </a:pPr>
            <a:endParaRPr lang="vi-VN" sz="1800" dirty="0"/>
          </a:p>
        </p:txBody>
      </p:sp>
      <p:sp>
        <p:nvSpPr>
          <p:cNvPr id="4" name="Slide Number Placeholder 3">
            <a:extLst>
              <a:ext uri="{FF2B5EF4-FFF2-40B4-BE49-F238E27FC236}">
                <a16:creationId xmlns:a16="http://schemas.microsoft.com/office/drawing/2014/main" id="{9E07D1BD-5599-2C25-6AC6-88FD100E737E}"/>
              </a:ext>
            </a:extLst>
          </p:cNvPr>
          <p:cNvSpPr>
            <a:spLocks noGrp="1"/>
          </p:cNvSpPr>
          <p:nvPr>
            <p:ph type="sldNum" sz="quarter" idx="12"/>
          </p:nvPr>
        </p:nvSpPr>
        <p:spPr/>
        <p:txBody>
          <a:bodyPr/>
          <a:lstStyle/>
          <a:p>
            <a:fld id="{D379440A-2DED-3643-ADED-9B5C83E7D828}" type="slidenum">
              <a:rPr lang="en-VN" smtClean="0"/>
              <a:pPr/>
              <a:t>19</a:t>
            </a:fld>
            <a:endParaRPr lang="en-VN"/>
          </a:p>
        </p:txBody>
      </p:sp>
    </p:spTree>
    <p:extLst>
      <p:ext uri="{BB962C8B-B14F-4D97-AF65-F5344CB8AC3E}">
        <p14:creationId xmlns:p14="http://schemas.microsoft.com/office/powerpoint/2010/main" val="2879050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B754E-070B-3ED3-AA82-85B762C7BA3F}"/>
              </a:ext>
            </a:extLst>
          </p:cNvPr>
          <p:cNvSpPr>
            <a:spLocks noGrp="1"/>
          </p:cNvSpPr>
          <p:nvPr>
            <p:ph type="title"/>
          </p:nvPr>
        </p:nvSpPr>
        <p:spPr>
          <a:xfrm>
            <a:off x="831851" y="3429000"/>
            <a:ext cx="10515600" cy="1133477"/>
          </a:xfrm>
        </p:spPr>
        <p:txBody>
          <a:bodyPr/>
          <a:lstStyle/>
          <a:p>
            <a:pPr algn="ctr">
              <a:lnSpc>
                <a:spcPct val="130000"/>
              </a:lnSpc>
              <a:spcBef>
                <a:spcPts val="600"/>
              </a:spcBef>
              <a:spcAft>
                <a:spcPts val="600"/>
              </a:spcAft>
            </a:pPr>
            <a:r>
              <a:rPr lang="en-US" dirty="0"/>
              <a:t>CẢM ƠN THẦY CÔ VÀ </a:t>
            </a:r>
            <a:br>
              <a:rPr lang="en-US" dirty="0"/>
            </a:br>
            <a:r>
              <a:rPr lang="en-US" dirty="0"/>
              <a:t>CÁC BẠN ĐÃ LẮNG NGHE</a:t>
            </a:r>
          </a:p>
        </p:txBody>
      </p:sp>
      <p:sp>
        <p:nvSpPr>
          <p:cNvPr id="4" name="Slide Number Placeholder 3">
            <a:extLst>
              <a:ext uri="{FF2B5EF4-FFF2-40B4-BE49-F238E27FC236}">
                <a16:creationId xmlns:a16="http://schemas.microsoft.com/office/drawing/2014/main" id="{C4425AB8-15FE-8E64-DE7A-FB52AF6451D2}"/>
              </a:ext>
            </a:extLst>
          </p:cNvPr>
          <p:cNvSpPr>
            <a:spLocks noGrp="1"/>
          </p:cNvSpPr>
          <p:nvPr>
            <p:ph type="sldNum" sz="quarter" idx="12"/>
          </p:nvPr>
        </p:nvSpPr>
        <p:spPr/>
        <p:txBody>
          <a:bodyPr/>
          <a:lstStyle/>
          <a:p>
            <a:fld id="{D379440A-2DED-3643-ADED-9B5C83E7D828}" type="slidenum">
              <a:rPr lang="en-VN" smtClean="0"/>
              <a:pPr/>
              <a:t>20</a:t>
            </a:fld>
            <a:endParaRPr lang="en-VN"/>
          </a:p>
        </p:txBody>
      </p:sp>
    </p:spTree>
    <p:extLst>
      <p:ext uri="{BB962C8B-B14F-4D97-AF65-F5344CB8AC3E}">
        <p14:creationId xmlns:p14="http://schemas.microsoft.com/office/powerpoint/2010/main" val="1831235268"/>
      </p:ext>
    </p:extLst>
  </p:cSld>
  <p:clrMapOvr>
    <a:masterClrMapping/>
  </p:clrMapOvr>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4854</TotalTime>
  <Words>1404</Words>
  <Application>Microsoft Office PowerPoint</Application>
  <PresentationFormat>Widescreen</PresentationFormat>
  <Paragraphs>106</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Times New Roman</vt:lpstr>
      <vt:lpstr>Times New Roman (Headings)</vt:lpstr>
      <vt:lpstr>Wingdings</vt:lpstr>
      <vt:lpstr>1_Office Theme</vt:lpstr>
      <vt:lpstr>PowerPoint Presentation</vt:lpstr>
      <vt:lpstr>PowerPoint Presentation</vt:lpstr>
      <vt:lpstr>NỘI DUNG</vt:lpstr>
      <vt:lpstr>1. LÝ DO CHỌN ĐỀ TÀI</vt:lpstr>
      <vt:lpstr>LÝ DO CHỌN ĐỀ TÀI</vt:lpstr>
      <vt:lpstr>CÔNG NGHỆ SỬ DỤNG</vt:lpstr>
      <vt:lpstr>THIẾT KẾ CSDL</vt:lpstr>
      <vt:lpstr>Smart Contract</vt:lpstr>
      <vt:lpstr>2. XÂY DỰNG HỆ THỐNG CHẤM CÔNG – THANH TOÁN CHẤM CÔNG TỰ ĐỘNG</vt:lpstr>
      <vt:lpstr>CƠ SỞ LÝ THUYẾT</vt:lpstr>
      <vt:lpstr>SƠ ĐỒ LUỒNG HOẠT ĐỘNG</vt:lpstr>
      <vt:lpstr>3. XÂY DỰNG CHỨC NĂNG KPI THƯỞNG CÔNG VIỆC</vt:lpstr>
      <vt:lpstr>PowerPoint Presentation</vt:lpstr>
      <vt:lpstr>PowerPoint Presentation</vt:lpstr>
      <vt:lpstr>4. XÂY DỰNG CHỨC NĂNG ĐĂNG NHẬP QR CODE</vt:lpstr>
      <vt:lpstr>PowerPoint Presentation</vt:lpstr>
      <vt:lpstr>PowerPoint Presentation</vt:lpstr>
      <vt:lpstr>KIỂM THỬ &amp; ĐÁNH GIÁ</vt:lpstr>
      <vt:lpstr>KẾT LUẬN &amp; HƯỚNG PHÁT TRIỂN</vt:lpstr>
      <vt:lpstr>KẾT LUẬN CHUNG</vt:lpstr>
      <vt:lpstr>CẢM ƠN THẦY CÔ VÀ  CÁC BẠN ĐÃ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Võ Văn Vũ</dc:creator>
  <cp:lastModifiedBy>Lenovo</cp:lastModifiedBy>
  <cp:revision>60</cp:revision>
  <dcterms:created xsi:type="dcterms:W3CDTF">2023-11-06T07:10:59Z</dcterms:created>
  <dcterms:modified xsi:type="dcterms:W3CDTF">2025-12-27T06:09:40Z</dcterms:modified>
</cp:coreProperties>
</file>